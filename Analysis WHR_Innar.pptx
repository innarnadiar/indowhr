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Lora"/>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Lora-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ora-italic.fntdata"/><Relationship Id="rId14" Type="http://schemas.openxmlformats.org/officeDocument/2006/relationships/font" Target="fonts/Lora-bold.fntdata"/><Relationship Id="rId16" Type="http://schemas.openxmlformats.org/officeDocument/2006/relationships/font" Target="fonts/Lor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781656fa7bbe7a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781656fa7bbe7a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781656fa7bbe7a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781656fa7bbe7a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781656fa7bbe7ae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781656fa7bbe7ae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776e57e1fef725df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776e57e1fef725df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776e57e1fef725df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776e57e1fef725df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433ea73c57905e34_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433ea73c57905e34_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5A8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780075" y="618875"/>
            <a:ext cx="6519600" cy="237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4080">
                <a:solidFill>
                  <a:schemeClr val="lt1"/>
                </a:solidFill>
              </a:rPr>
              <a:t>Indonesia’s</a:t>
            </a:r>
            <a:endParaRPr sz="4080">
              <a:solidFill>
                <a:schemeClr val="lt1"/>
              </a:solidFill>
            </a:endParaRPr>
          </a:p>
          <a:p>
            <a:pPr indent="0" lvl="0" marL="0" rtl="0" algn="l">
              <a:spcBef>
                <a:spcPts val="0"/>
              </a:spcBef>
              <a:spcAft>
                <a:spcPts val="0"/>
              </a:spcAft>
              <a:buSzPts val="990"/>
              <a:buNone/>
            </a:pPr>
            <a:r>
              <a:rPr lang="en" sz="4080">
                <a:solidFill>
                  <a:schemeClr val="lt1"/>
                </a:solidFill>
              </a:rPr>
              <a:t>World Happiness Report </a:t>
            </a:r>
            <a:endParaRPr sz="4080">
              <a:solidFill>
                <a:schemeClr val="lt1"/>
              </a:solidFill>
            </a:endParaRPr>
          </a:p>
          <a:p>
            <a:pPr indent="0" lvl="0" marL="0" rtl="0" algn="l">
              <a:spcBef>
                <a:spcPts val="0"/>
              </a:spcBef>
              <a:spcAft>
                <a:spcPts val="0"/>
              </a:spcAft>
              <a:buSzPts val="990"/>
              <a:buNone/>
            </a:pPr>
            <a:r>
              <a:rPr lang="en" sz="4080">
                <a:solidFill>
                  <a:schemeClr val="lt1"/>
                </a:solidFill>
              </a:rPr>
              <a:t>Analysis</a:t>
            </a:r>
            <a:endParaRPr sz="4080">
              <a:solidFill>
                <a:schemeClr val="lt1"/>
              </a:solidFill>
            </a:endParaRPr>
          </a:p>
        </p:txBody>
      </p:sp>
      <p:sp>
        <p:nvSpPr>
          <p:cNvPr id="55" name="Google Shape;55;p13"/>
          <p:cNvSpPr txBox="1"/>
          <p:nvPr>
            <p:ph idx="1" type="subTitle"/>
          </p:nvPr>
        </p:nvSpPr>
        <p:spPr>
          <a:xfrm>
            <a:off x="780075" y="3281425"/>
            <a:ext cx="8052300" cy="8847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853"/>
              <a:buNone/>
            </a:pPr>
            <a:r>
              <a:rPr lang="en" sz="1670">
                <a:solidFill>
                  <a:schemeClr val="accent6"/>
                </a:solidFill>
              </a:rPr>
              <a:t>Innarcaya Nadiar</a:t>
            </a:r>
            <a:endParaRPr sz="1670">
              <a:solidFill>
                <a:schemeClr val="accent6"/>
              </a:solidFill>
            </a:endParaRPr>
          </a:p>
          <a:p>
            <a:pPr indent="0" lvl="0" marL="0" rtl="0" algn="l">
              <a:lnSpc>
                <a:spcPct val="80000"/>
              </a:lnSpc>
              <a:spcBef>
                <a:spcPts val="0"/>
              </a:spcBef>
              <a:spcAft>
                <a:spcPts val="0"/>
              </a:spcAft>
              <a:buSzPts val="853"/>
              <a:buNone/>
            </a:pPr>
            <a:r>
              <a:t/>
            </a:r>
            <a:endParaRPr sz="1670">
              <a:solidFill>
                <a:schemeClr val="accent6"/>
              </a:solidFill>
            </a:endParaRPr>
          </a:p>
          <a:p>
            <a:pPr indent="0" lvl="0" marL="0" rtl="0" algn="l">
              <a:lnSpc>
                <a:spcPct val="80000"/>
              </a:lnSpc>
              <a:spcBef>
                <a:spcPts val="0"/>
              </a:spcBef>
              <a:spcAft>
                <a:spcPts val="0"/>
              </a:spcAft>
              <a:buSzPts val="853"/>
              <a:buNone/>
            </a:pPr>
            <a:r>
              <a:rPr lang="en" sz="1670">
                <a:solidFill>
                  <a:schemeClr val="accent6"/>
                </a:solidFill>
              </a:rPr>
              <a:t>23 September 2026</a:t>
            </a:r>
            <a:endParaRPr sz="1670">
              <a:solidFill>
                <a:schemeClr val="accent6"/>
              </a:solidFill>
            </a:endParaRPr>
          </a:p>
          <a:p>
            <a:pPr indent="0" lvl="0" marL="0" rtl="0" algn="l">
              <a:lnSpc>
                <a:spcPct val="80000"/>
              </a:lnSpc>
              <a:spcBef>
                <a:spcPts val="0"/>
              </a:spcBef>
              <a:spcAft>
                <a:spcPts val="0"/>
              </a:spcAft>
              <a:buSzPts val="853"/>
              <a:buNone/>
            </a:pPr>
            <a:r>
              <a:t/>
            </a:r>
            <a:endParaRPr sz="1670">
              <a:solidFill>
                <a:schemeClr val="accent6"/>
              </a:solidFill>
            </a:endParaRPr>
          </a:p>
        </p:txBody>
      </p:sp>
      <p:pic>
        <p:nvPicPr>
          <p:cNvPr id="56" name="Google Shape;56;p13"/>
          <p:cNvPicPr preferRelativeResize="0"/>
          <p:nvPr/>
        </p:nvPicPr>
        <p:blipFill>
          <a:blip r:embed="rId3">
            <a:alphaModFix/>
          </a:blip>
          <a:stretch>
            <a:fillRect/>
          </a:stretch>
        </p:blipFill>
        <p:spPr>
          <a:xfrm>
            <a:off x="6572900" y="3097325"/>
            <a:ext cx="2044500" cy="1022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557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2000">
                <a:solidFill>
                  <a:srgbClr val="1C4587"/>
                </a:solidFill>
              </a:rPr>
              <a:t>Latar Belakang dan Gambaran Umum</a:t>
            </a:r>
            <a:endParaRPr b="1" sz="3000">
              <a:solidFill>
                <a:srgbClr val="1C4587"/>
              </a:solidFill>
            </a:endParaRPr>
          </a:p>
        </p:txBody>
      </p:sp>
      <p:sp>
        <p:nvSpPr>
          <p:cNvPr id="62" name="Google Shape;62;p14"/>
          <p:cNvSpPr txBox="1"/>
          <p:nvPr>
            <p:ph idx="1" type="body"/>
          </p:nvPr>
        </p:nvSpPr>
        <p:spPr>
          <a:xfrm>
            <a:off x="5074550" y="1397000"/>
            <a:ext cx="3651000" cy="2457600"/>
          </a:xfrm>
          <a:prstGeom prst="rect">
            <a:avLst/>
          </a:prstGeom>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 sz="1185">
                <a:solidFill>
                  <a:schemeClr val="dk1"/>
                </a:solidFill>
              </a:rPr>
              <a:t>Indonesia in general:</a:t>
            </a:r>
            <a:endParaRPr sz="1185">
              <a:solidFill>
                <a:schemeClr val="dk1"/>
              </a:solidFill>
            </a:endParaRPr>
          </a:p>
          <a:p>
            <a:pPr indent="-303848" lvl="0" marL="457200" rtl="0" algn="l">
              <a:lnSpc>
                <a:spcPct val="95000"/>
              </a:lnSpc>
              <a:spcBef>
                <a:spcPts val="1200"/>
              </a:spcBef>
              <a:spcAft>
                <a:spcPts val="0"/>
              </a:spcAft>
              <a:buClr>
                <a:schemeClr val="dk1"/>
              </a:buClr>
              <a:buSzPts val="1185"/>
              <a:buChar char="●"/>
            </a:pPr>
            <a:r>
              <a:rPr lang="en" sz="1185">
                <a:solidFill>
                  <a:schemeClr val="dk1"/>
                </a:solidFill>
              </a:rPr>
              <a:t>Average in 5 yr: 5.46 out of 10</a:t>
            </a:r>
            <a:endParaRPr sz="1185">
              <a:solidFill>
                <a:schemeClr val="dk1"/>
              </a:solidFill>
            </a:endParaRPr>
          </a:p>
          <a:p>
            <a:pPr indent="-303848" lvl="0" marL="457200" rtl="0" algn="l">
              <a:lnSpc>
                <a:spcPct val="95000"/>
              </a:lnSpc>
              <a:spcBef>
                <a:spcPts val="0"/>
              </a:spcBef>
              <a:spcAft>
                <a:spcPts val="0"/>
              </a:spcAft>
              <a:buClr>
                <a:schemeClr val="dk1"/>
              </a:buClr>
              <a:buSzPts val="1185"/>
              <a:buChar char="●"/>
            </a:pPr>
            <a:r>
              <a:rPr lang="en" sz="1185">
                <a:solidFill>
                  <a:schemeClr val="dk1"/>
                </a:solidFill>
              </a:rPr>
              <a:t>Lowest in 2017: 5.1</a:t>
            </a:r>
            <a:endParaRPr sz="1185">
              <a:solidFill>
                <a:schemeClr val="dk1"/>
              </a:solidFill>
            </a:endParaRPr>
          </a:p>
          <a:p>
            <a:pPr indent="-303848" lvl="0" marL="457200" rtl="0" algn="l">
              <a:lnSpc>
                <a:spcPct val="95000"/>
              </a:lnSpc>
              <a:spcBef>
                <a:spcPts val="0"/>
              </a:spcBef>
              <a:spcAft>
                <a:spcPts val="0"/>
              </a:spcAft>
              <a:buClr>
                <a:schemeClr val="dk1"/>
              </a:buClr>
              <a:buSzPts val="1185"/>
              <a:buChar char="●"/>
            </a:pPr>
            <a:r>
              <a:rPr lang="en" sz="1185">
                <a:solidFill>
                  <a:schemeClr val="dk1"/>
                </a:solidFill>
              </a:rPr>
              <a:t>Highest in 2024: 5.6</a:t>
            </a:r>
            <a:endParaRPr sz="1185">
              <a:solidFill>
                <a:schemeClr val="dk1"/>
              </a:solidFill>
            </a:endParaRPr>
          </a:p>
          <a:p>
            <a:pPr indent="-303848" lvl="0" marL="457200" rtl="0" algn="l">
              <a:lnSpc>
                <a:spcPct val="95000"/>
              </a:lnSpc>
              <a:spcBef>
                <a:spcPts val="0"/>
              </a:spcBef>
              <a:spcAft>
                <a:spcPts val="0"/>
              </a:spcAft>
              <a:buClr>
                <a:schemeClr val="dk1"/>
              </a:buClr>
              <a:buSzPts val="1185"/>
              <a:buChar char="●"/>
            </a:pPr>
            <a:r>
              <a:rPr lang="en" sz="1185">
                <a:solidFill>
                  <a:schemeClr val="dk1"/>
                </a:solidFill>
              </a:rPr>
              <a:t>Fluctuative</a:t>
            </a:r>
            <a:endParaRPr sz="1185">
              <a:solidFill>
                <a:schemeClr val="dk1"/>
              </a:solidFill>
            </a:endParaRPr>
          </a:p>
          <a:p>
            <a:pPr indent="0" lvl="0" marL="0" rtl="0" algn="l">
              <a:lnSpc>
                <a:spcPct val="95000"/>
              </a:lnSpc>
              <a:spcBef>
                <a:spcPts val="1200"/>
              </a:spcBef>
              <a:spcAft>
                <a:spcPts val="0"/>
              </a:spcAft>
              <a:buSzPts val="853"/>
              <a:buNone/>
            </a:pPr>
            <a:r>
              <a:rPr lang="en" sz="1185">
                <a:solidFill>
                  <a:schemeClr val="dk1"/>
                </a:solidFill>
              </a:rPr>
              <a:t>Last 5 years:</a:t>
            </a:r>
            <a:endParaRPr sz="1185">
              <a:solidFill>
                <a:schemeClr val="dk1"/>
              </a:solidFill>
            </a:endParaRPr>
          </a:p>
          <a:p>
            <a:pPr indent="-303848" lvl="0" marL="457200" rtl="0" algn="l">
              <a:lnSpc>
                <a:spcPct val="95000"/>
              </a:lnSpc>
              <a:spcBef>
                <a:spcPts val="1200"/>
              </a:spcBef>
              <a:spcAft>
                <a:spcPts val="0"/>
              </a:spcAft>
              <a:buClr>
                <a:schemeClr val="dk1"/>
              </a:buClr>
              <a:buSzPts val="1185"/>
              <a:buChar char="●"/>
            </a:pPr>
            <a:r>
              <a:rPr lang="en" sz="1185">
                <a:solidFill>
                  <a:schemeClr val="dk1"/>
                </a:solidFill>
              </a:rPr>
              <a:t>Skor naik 2021-2025 (+0.37)</a:t>
            </a:r>
            <a:endParaRPr sz="1185">
              <a:solidFill>
                <a:schemeClr val="dk1"/>
              </a:solidFill>
            </a:endParaRPr>
          </a:p>
          <a:p>
            <a:pPr indent="-303848" lvl="0" marL="457200" rtl="0" algn="l">
              <a:lnSpc>
                <a:spcPct val="95000"/>
              </a:lnSpc>
              <a:spcBef>
                <a:spcPts val="0"/>
              </a:spcBef>
              <a:spcAft>
                <a:spcPts val="0"/>
              </a:spcAft>
              <a:buClr>
                <a:schemeClr val="dk1"/>
              </a:buClr>
              <a:buSzPts val="1185"/>
              <a:buChar char="●"/>
            </a:pPr>
            <a:r>
              <a:rPr lang="en" sz="1185">
                <a:solidFill>
                  <a:schemeClr val="dk1"/>
                </a:solidFill>
              </a:rPr>
              <a:t>Tingkat kebahagiaan:</a:t>
            </a:r>
            <a:br>
              <a:rPr lang="en" sz="1185">
                <a:solidFill>
                  <a:schemeClr val="dk1"/>
                </a:solidFill>
              </a:rPr>
            </a:br>
            <a:r>
              <a:rPr lang="en" sz="1185">
                <a:solidFill>
                  <a:schemeClr val="dk1"/>
                </a:solidFill>
              </a:rPr>
              <a:t>Indonesia≈Global</a:t>
            </a:r>
            <a:endParaRPr sz="1185">
              <a:solidFill>
                <a:schemeClr val="dk1"/>
              </a:solidFill>
            </a:endParaRPr>
          </a:p>
          <a:p>
            <a:pPr indent="-303848" lvl="0" marL="457200" rtl="0" algn="l">
              <a:lnSpc>
                <a:spcPct val="95000"/>
              </a:lnSpc>
              <a:spcBef>
                <a:spcPts val="0"/>
              </a:spcBef>
              <a:spcAft>
                <a:spcPts val="0"/>
              </a:spcAft>
              <a:buClr>
                <a:schemeClr val="dk1"/>
              </a:buClr>
              <a:buSzPts val="1185"/>
              <a:buChar char="●"/>
            </a:pPr>
            <a:r>
              <a:rPr lang="en" sz="1185">
                <a:solidFill>
                  <a:schemeClr val="dk1"/>
                </a:solidFill>
              </a:rPr>
              <a:t>Peringkat turun (2023: 80, 2025: 87)</a:t>
            </a:r>
            <a:endParaRPr sz="1185">
              <a:solidFill>
                <a:schemeClr val="dk1"/>
              </a:solidFill>
            </a:endParaRPr>
          </a:p>
          <a:p>
            <a:pPr indent="0" lvl="0" marL="457200" rtl="0" algn="l">
              <a:lnSpc>
                <a:spcPct val="95000"/>
              </a:lnSpc>
              <a:spcBef>
                <a:spcPts val="1200"/>
              </a:spcBef>
              <a:spcAft>
                <a:spcPts val="1200"/>
              </a:spcAft>
              <a:buSzPts val="853"/>
              <a:buNone/>
            </a:pPr>
            <a:r>
              <a:t/>
            </a:r>
            <a:endParaRPr sz="1185">
              <a:solidFill>
                <a:schemeClr val="dk1"/>
              </a:solidFill>
            </a:endParaRPr>
          </a:p>
        </p:txBody>
      </p:sp>
      <p:pic>
        <p:nvPicPr>
          <p:cNvPr id="63" name="Google Shape;63;p14"/>
          <p:cNvPicPr preferRelativeResize="0"/>
          <p:nvPr/>
        </p:nvPicPr>
        <p:blipFill rotWithShape="1">
          <a:blip r:embed="rId3">
            <a:alphaModFix/>
          </a:blip>
          <a:srcRect b="0" l="18693" r="0" t="0"/>
          <a:stretch/>
        </p:blipFill>
        <p:spPr>
          <a:xfrm>
            <a:off x="355225" y="886800"/>
            <a:ext cx="4451200" cy="936100"/>
          </a:xfrm>
          <a:prstGeom prst="rect">
            <a:avLst/>
          </a:prstGeom>
          <a:noFill/>
          <a:ln>
            <a:noFill/>
          </a:ln>
        </p:spPr>
      </p:pic>
      <p:pic>
        <p:nvPicPr>
          <p:cNvPr id="64" name="Google Shape;64;p14"/>
          <p:cNvPicPr preferRelativeResize="0"/>
          <p:nvPr/>
        </p:nvPicPr>
        <p:blipFill>
          <a:blip r:embed="rId4">
            <a:alphaModFix/>
          </a:blip>
          <a:stretch>
            <a:fillRect/>
          </a:stretch>
        </p:blipFill>
        <p:spPr>
          <a:xfrm>
            <a:off x="355225" y="1822900"/>
            <a:ext cx="2187800" cy="295500"/>
          </a:xfrm>
          <a:prstGeom prst="rect">
            <a:avLst/>
          </a:prstGeom>
          <a:noFill/>
          <a:ln>
            <a:noFill/>
          </a:ln>
        </p:spPr>
      </p:pic>
      <p:grpSp>
        <p:nvGrpSpPr>
          <p:cNvPr id="65" name="Google Shape;65;p14"/>
          <p:cNvGrpSpPr/>
          <p:nvPr/>
        </p:nvGrpSpPr>
        <p:grpSpPr>
          <a:xfrm>
            <a:off x="85295" y="2167642"/>
            <a:ext cx="4859658" cy="2813946"/>
            <a:chOff x="355225" y="2188675"/>
            <a:chExt cx="4497601" cy="2604300"/>
          </a:xfrm>
        </p:grpSpPr>
        <p:pic>
          <p:nvPicPr>
            <p:cNvPr id="66" name="Google Shape;66;p14"/>
            <p:cNvPicPr preferRelativeResize="0"/>
            <p:nvPr/>
          </p:nvPicPr>
          <p:blipFill>
            <a:blip r:embed="rId5">
              <a:alphaModFix/>
            </a:blip>
            <a:stretch>
              <a:fillRect/>
            </a:stretch>
          </p:blipFill>
          <p:spPr>
            <a:xfrm>
              <a:off x="355225" y="2188675"/>
              <a:ext cx="4497601" cy="2604300"/>
            </a:xfrm>
            <a:prstGeom prst="rect">
              <a:avLst/>
            </a:prstGeom>
            <a:noFill/>
            <a:ln>
              <a:noFill/>
            </a:ln>
          </p:spPr>
        </p:pic>
        <p:sp>
          <p:nvSpPr>
            <p:cNvPr id="67" name="Google Shape;67;p14"/>
            <p:cNvSpPr/>
            <p:nvPr/>
          </p:nvSpPr>
          <p:spPr>
            <a:xfrm>
              <a:off x="3530825" y="2356625"/>
              <a:ext cx="1108500" cy="2184300"/>
            </a:xfrm>
            <a:prstGeom prst="rect">
              <a:avLst/>
            </a:prstGeom>
            <a:noFill/>
            <a:ln cap="flat" cmpd="sng" w="10300">
              <a:solidFill>
                <a:schemeClr val="accent6"/>
              </a:solidFill>
              <a:prstDash val="solid"/>
              <a:round/>
              <a:headEnd len="sm" w="sm" type="none"/>
              <a:tailEnd len="sm" w="sm" type="none"/>
            </a:ln>
          </p:spPr>
          <p:txBody>
            <a:bodyPr anchorCtr="0" anchor="ctr" bIns="98800" lIns="98800" spcFirstLastPara="1" rIns="98800" wrap="square" tIns="98800">
              <a:noAutofit/>
            </a:bodyPr>
            <a:lstStyle/>
            <a:p>
              <a:pPr indent="0" lvl="0" marL="0" rtl="0" algn="ctr">
                <a:spcBef>
                  <a:spcPts val="0"/>
                </a:spcBef>
                <a:spcAft>
                  <a:spcPts val="0"/>
                </a:spcAft>
                <a:buNone/>
              </a:pPr>
              <a:r>
                <a:t/>
              </a:r>
              <a:endParaRPr sz="1513"/>
            </a:p>
          </p:txBody>
        </p:sp>
        <p:sp>
          <p:nvSpPr>
            <p:cNvPr id="68" name="Google Shape;68;p14"/>
            <p:cNvSpPr/>
            <p:nvPr/>
          </p:nvSpPr>
          <p:spPr>
            <a:xfrm>
              <a:off x="4204150" y="2381250"/>
              <a:ext cx="279300" cy="312000"/>
            </a:xfrm>
            <a:prstGeom prst="ellipse">
              <a:avLst/>
            </a:prstGeom>
            <a:noFill/>
            <a:ln cap="flat" cmpd="sng" w="10300">
              <a:solidFill>
                <a:srgbClr val="00FF00"/>
              </a:solidFill>
              <a:prstDash val="solid"/>
              <a:round/>
              <a:headEnd len="sm" w="sm" type="none"/>
              <a:tailEnd len="sm" w="sm" type="none"/>
            </a:ln>
          </p:spPr>
          <p:txBody>
            <a:bodyPr anchorCtr="0" anchor="ctr" bIns="98800" lIns="98800" spcFirstLastPara="1" rIns="98800" wrap="square" tIns="98800">
              <a:noAutofit/>
            </a:bodyPr>
            <a:lstStyle/>
            <a:p>
              <a:pPr indent="0" lvl="0" marL="0" rtl="0" algn="ctr">
                <a:spcBef>
                  <a:spcPts val="0"/>
                </a:spcBef>
                <a:spcAft>
                  <a:spcPts val="0"/>
                </a:spcAft>
                <a:buNone/>
              </a:pPr>
              <a:r>
                <a:t/>
              </a:r>
              <a:endParaRPr sz="1513"/>
            </a:p>
          </p:txBody>
        </p:sp>
        <p:sp>
          <p:nvSpPr>
            <p:cNvPr id="69" name="Google Shape;69;p14"/>
            <p:cNvSpPr/>
            <p:nvPr/>
          </p:nvSpPr>
          <p:spPr>
            <a:xfrm>
              <a:off x="2311950" y="4228925"/>
              <a:ext cx="279300" cy="312000"/>
            </a:xfrm>
            <a:prstGeom prst="ellipse">
              <a:avLst/>
            </a:prstGeom>
            <a:noFill/>
            <a:ln cap="flat" cmpd="sng" w="10300">
              <a:solidFill>
                <a:schemeClr val="dk1"/>
              </a:solidFill>
              <a:prstDash val="solid"/>
              <a:round/>
              <a:headEnd len="sm" w="sm" type="none"/>
              <a:tailEnd len="sm" w="sm" type="none"/>
            </a:ln>
          </p:spPr>
          <p:txBody>
            <a:bodyPr anchorCtr="0" anchor="ctr" bIns="98800" lIns="98800" spcFirstLastPara="1" rIns="98800" wrap="square" tIns="98800">
              <a:noAutofit/>
            </a:bodyPr>
            <a:lstStyle/>
            <a:p>
              <a:pPr indent="0" lvl="0" marL="0" rtl="0" algn="ctr">
                <a:spcBef>
                  <a:spcPts val="0"/>
                </a:spcBef>
                <a:spcAft>
                  <a:spcPts val="0"/>
                </a:spcAft>
                <a:buNone/>
              </a:pPr>
              <a:r>
                <a:t/>
              </a:r>
              <a:endParaRPr sz="1513"/>
            </a:p>
          </p:txBody>
        </p:sp>
      </p:grpSp>
      <p:sp>
        <p:nvSpPr>
          <p:cNvPr id="70" name="Google Shape;70;p14"/>
          <p:cNvSpPr/>
          <p:nvPr/>
        </p:nvSpPr>
        <p:spPr>
          <a:xfrm>
            <a:off x="5048250" y="863600"/>
            <a:ext cx="36258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What stands out?</a:t>
            </a:r>
            <a:endParaRPr>
              <a:solidFill>
                <a:schemeClr val="accent6"/>
              </a:solidFill>
            </a:endParaRPr>
          </a:p>
        </p:txBody>
      </p:sp>
      <p:sp>
        <p:nvSpPr>
          <p:cNvPr id="71" name="Google Shape;71;p14"/>
          <p:cNvSpPr/>
          <p:nvPr/>
        </p:nvSpPr>
        <p:spPr>
          <a:xfrm>
            <a:off x="5074550" y="3854500"/>
            <a:ext cx="3625800" cy="806100"/>
          </a:xfrm>
          <a:prstGeom prst="wedgeRoundRectCallout">
            <a:avLst>
              <a:gd fmla="val -80583" name="adj1"/>
              <a:gd fmla="val -71951" name="adj2"/>
              <a:gd fmla="val 0" name="adj3"/>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700"/>
              <a:t>“Bayangkan sebuah tangga dengan anak tangga yang diberi nomor dari 0 di bagian bawah hingga 10 di bagian paling atas. Bagian atas tangga (10) mewakili kehidupan terbaik yang mungkin bagi Anda, dan bagian bawah tangga (0) mewakili kehidupan terburuk yang mungkin bagi Anda. Di anak tangga nomor berapa Anda merasa diri Anda berdiri saat ini?” </a:t>
            </a:r>
            <a:endParaRPr i="1" sz="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5"/>
          <p:cNvPicPr preferRelativeResize="0"/>
          <p:nvPr/>
        </p:nvPicPr>
        <p:blipFill>
          <a:blip r:embed="rId3">
            <a:alphaModFix/>
          </a:blip>
          <a:stretch>
            <a:fillRect/>
          </a:stretch>
        </p:blipFill>
        <p:spPr>
          <a:xfrm>
            <a:off x="1734650" y="2439325"/>
            <a:ext cx="5674700" cy="2232740"/>
          </a:xfrm>
          <a:prstGeom prst="rect">
            <a:avLst/>
          </a:prstGeom>
          <a:noFill/>
          <a:ln>
            <a:noFill/>
          </a:ln>
        </p:spPr>
      </p:pic>
      <p:grpSp>
        <p:nvGrpSpPr>
          <p:cNvPr id="77" name="Google Shape;77;p15"/>
          <p:cNvGrpSpPr/>
          <p:nvPr/>
        </p:nvGrpSpPr>
        <p:grpSpPr>
          <a:xfrm>
            <a:off x="253925" y="853400"/>
            <a:ext cx="3493351" cy="1351850"/>
            <a:chOff x="330725" y="828400"/>
            <a:chExt cx="3493351" cy="1351850"/>
          </a:xfrm>
        </p:grpSpPr>
        <p:pic>
          <p:nvPicPr>
            <p:cNvPr id="78" name="Google Shape;78;p15"/>
            <p:cNvPicPr preferRelativeResize="0"/>
            <p:nvPr/>
          </p:nvPicPr>
          <p:blipFill>
            <a:blip r:embed="rId4">
              <a:alphaModFix/>
            </a:blip>
            <a:stretch>
              <a:fillRect/>
            </a:stretch>
          </p:blipFill>
          <p:spPr>
            <a:xfrm>
              <a:off x="330725" y="828400"/>
              <a:ext cx="3493351" cy="1351850"/>
            </a:xfrm>
            <a:prstGeom prst="rect">
              <a:avLst/>
            </a:prstGeom>
            <a:noFill/>
            <a:ln>
              <a:noFill/>
            </a:ln>
          </p:spPr>
        </p:pic>
        <p:sp>
          <p:nvSpPr>
            <p:cNvPr id="79" name="Google Shape;79;p15"/>
            <p:cNvSpPr/>
            <p:nvPr/>
          </p:nvSpPr>
          <p:spPr>
            <a:xfrm>
              <a:off x="565475" y="992525"/>
              <a:ext cx="3218700" cy="3285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0" name="Google Shape;80;p15"/>
          <p:cNvSpPr txBox="1"/>
          <p:nvPr>
            <p:ph type="title"/>
          </p:nvPr>
        </p:nvSpPr>
        <p:spPr>
          <a:xfrm>
            <a:off x="253925" y="255700"/>
            <a:ext cx="8609100" cy="57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None/>
            </a:pPr>
            <a:r>
              <a:rPr b="1" lang="en" sz="2000">
                <a:solidFill>
                  <a:srgbClr val="1C4587"/>
                </a:solidFill>
              </a:rPr>
              <a:t>Eksplorasi Faktor-faktor Berasosiasi</a:t>
            </a:r>
            <a:endParaRPr b="1" sz="2000">
              <a:solidFill>
                <a:srgbClr val="1C4587"/>
              </a:solidFill>
            </a:endParaRPr>
          </a:p>
        </p:txBody>
      </p:sp>
      <p:sp>
        <p:nvSpPr>
          <p:cNvPr id="81" name="Google Shape;81;p15"/>
          <p:cNvSpPr txBox="1"/>
          <p:nvPr>
            <p:ph idx="1" type="body"/>
          </p:nvPr>
        </p:nvSpPr>
        <p:spPr>
          <a:xfrm>
            <a:off x="4040725" y="1382463"/>
            <a:ext cx="4822200" cy="941100"/>
          </a:xfrm>
          <a:prstGeom prst="rect">
            <a:avLst/>
          </a:prstGeom>
          <a:ln>
            <a:noFill/>
          </a:ln>
        </p:spPr>
        <p:txBody>
          <a:bodyPr anchorCtr="0" anchor="t" bIns="91425" lIns="91425" spcFirstLastPara="1" rIns="91425" wrap="square" tIns="91425">
            <a:normAutofit/>
          </a:bodyPr>
          <a:lstStyle/>
          <a:p>
            <a:pPr indent="-317500" lvl="0" marL="457200" marR="0" rtl="0" algn="l">
              <a:lnSpc>
                <a:spcPct val="95000"/>
              </a:lnSpc>
              <a:spcBef>
                <a:spcPts val="0"/>
              </a:spcBef>
              <a:spcAft>
                <a:spcPts val="0"/>
              </a:spcAft>
              <a:buClr>
                <a:schemeClr val="dk1"/>
              </a:buClr>
              <a:buSzPts val="1400"/>
              <a:buAutoNum type="arabicPeriod"/>
            </a:pPr>
            <a:r>
              <a:rPr lang="en" sz="1400">
                <a:solidFill>
                  <a:schemeClr val="dk1"/>
                </a:solidFill>
              </a:rPr>
              <a:t>Freedom to make life choices (r = 0.9), posisi ke-24</a:t>
            </a:r>
            <a:endParaRPr sz="1400">
              <a:solidFill>
                <a:schemeClr val="dk1"/>
              </a:solidFill>
            </a:endParaRPr>
          </a:p>
          <a:p>
            <a:pPr indent="-317500" lvl="0" marL="457200" marR="0" rtl="0" algn="l">
              <a:lnSpc>
                <a:spcPct val="95000"/>
              </a:lnSpc>
              <a:spcBef>
                <a:spcPts val="0"/>
              </a:spcBef>
              <a:spcAft>
                <a:spcPts val="0"/>
              </a:spcAft>
              <a:buClr>
                <a:schemeClr val="dk1"/>
              </a:buClr>
              <a:buSzPts val="1400"/>
              <a:buAutoNum type="arabicPeriod"/>
            </a:pPr>
            <a:r>
              <a:rPr lang="en" sz="1400">
                <a:solidFill>
                  <a:schemeClr val="dk1"/>
                </a:solidFill>
              </a:rPr>
              <a:t>Generosity posisi ke-1</a:t>
            </a:r>
            <a:br>
              <a:rPr lang="en" sz="1400">
                <a:solidFill>
                  <a:schemeClr val="dk1"/>
                </a:solidFill>
              </a:rPr>
            </a:br>
            <a:endParaRPr sz="1400">
              <a:solidFill>
                <a:schemeClr val="dk1"/>
              </a:solidFill>
            </a:endParaRPr>
          </a:p>
        </p:txBody>
      </p:sp>
      <p:sp>
        <p:nvSpPr>
          <p:cNvPr id="82" name="Google Shape;82;p15"/>
          <p:cNvSpPr/>
          <p:nvPr/>
        </p:nvSpPr>
        <p:spPr>
          <a:xfrm>
            <a:off x="7492225" y="2650450"/>
            <a:ext cx="1427400" cy="1589400"/>
          </a:xfrm>
          <a:prstGeom prst="wedgeRoundRectCallout">
            <a:avLst>
              <a:gd fmla="val -80923" name="adj1"/>
              <a:gd fmla="val -29665" name="adj2"/>
              <a:gd fmla="val 0" name="adj3"/>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t>"Apakah Anda mendonasikan uang untuk amal dalam sebulan terakhir?" </a:t>
            </a:r>
            <a:endParaRPr i="1" sz="1000"/>
          </a:p>
        </p:txBody>
      </p:sp>
      <p:sp>
        <p:nvSpPr>
          <p:cNvPr id="83" name="Google Shape;83;p15"/>
          <p:cNvSpPr/>
          <p:nvPr/>
        </p:nvSpPr>
        <p:spPr>
          <a:xfrm>
            <a:off x="253925" y="2650450"/>
            <a:ext cx="1349100" cy="1589400"/>
          </a:xfrm>
          <a:prstGeom prst="wedgeRoundRectCallout">
            <a:avLst>
              <a:gd fmla="val 93129" name="adj1"/>
              <a:gd fmla="val -31858" name="adj2"/>
              <a:gd fmla="val 0" name="adj3"/>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1000"/>
              <a:t>“Apakah Anda merasa puas atau tidak puas dengan kebebasan Anda untuk memilih apa yang akan Anda lakukan dengan hidup Anda?”</a:t>
            </a:r>
            <a:endParaRPr i="1" sz="1000"/>
          </a:p>
        </p:txBody>
      </p:sp>
      <p:sp>
        <p:nvSpPr>
          <p:cNvPr id="84" name="Google Shape;84;p15"/>
          <p:cNvSpPr/>
          <p:nvPr/>
        </p:nvSpPr>
        <p:spPr>
          <a:xfrm>
            <a:off x="4040725" y="828400"/>
            <a:ext cx="48222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What stands out?</a:t>
            </a:r>
            <a:endParaRPr>
              <a:solidFill>
                <a:schemeClr val="accent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255700"/>
            <a:ext cx="8353800" cy="57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None/>
            </a:pPr>
            <a:r>
              <a:rPr b="1" lang="en" sz="2000">
                <a:solidFill>
                  <a:srgbClr val="1C4587"/>
                </a:solidFill>
              </a:rPr>
              <a:t>Perbandingan Skor Indonesia dan Negara ASEAN</a:t>
            </a:r>
            <a:endParaRPr b="1" sz="2000">
              <a:solidFill>
                <a:srgbClr val="1C4587"/>
              </a:solidFill>
            </a:endParaRPr>
          </a:p>
        </p:txBody>
      </p:sp>
      <p:pic>
        <p:nvPicPr>
          <p:cNvPr id="90" name="Google Shape;90;p16"/>
          <p:cNvPicPr preferRelativeResize="0"/>
          <p:nvPr/>
        </p:nvPicPr>
        <p:blipFill rotWithShape="1">
          <a:blip r:embed="rId3">
            <a:alphaModFix/>
          </a:blip>
          <a:srcRect b="0" l="0" r="18858" t="0"/>
          <a:stretch/>
        </p:blipFill>
        <p:spPr>
          <a:xfrm>
            <a:off x="311700" y="1076575"/>
            <a:ext cx="4909950" cy="3727426"/>
          </a:xfrm>
          <a:prstGeom prst="rect">
            <a:avLst/>
          </a:prstGeom>
          <a:noFill/>
          <a:ln>
            <a:noFill/>
          </a:ln>
        </p:spPr>
      </p:pic>
      <p:pic>
        <p:nvPicPr>
          <p:cNvPr id="91" name="Google Shape;91;p16"/>
          <p:cNvPicPr preferRelativeResize="0"/>
          <p:nvPr/>
        </p:nvPicPr>
        <p:blipFill rotWithShape="1">
          <a:blip r:embed="rId3">
            <a:alphaModFix/>
          </a:blip>
          <a:srcRect b="63058" l="80874" r="0" t="7767"/>
          <a:stretch/>
        </p:blipFill>
        <p:spPr>
          <a:xfrm>
            <a:off x="3868125" y="3133575"/>
            <a:ext cx="919549" cy="864075"/>
          </a:xfrm>
          <a:prstGeom prst="rect">
            <a:avLst/>
          </a:prstGeom>
          <a:noFill/>
          <a:ln>
            <a:noFill/>
          </a:ln>
        </p:spPr>
      </p:pic>
      <p:sp>
        <p:nvSpPr>
          <p:cNvPr id="92" name="Google Shape;92;p16"/>
          <p:cNvSpPr txBox="1"/>
          <p:nvPr>
            <p:ph idx="1" type="body"/>
          </p:nvPr>
        </p:nvSpPr>
        <p:spPr>
          <a:xfrm>
            <a:off x="5364550" y="1630654"/>
            <a:ext cx="3498600" cy="2080500"/>
          </a:xfrm>
          <a:prstGeom prst="rect">
            <a:avLst/>
          </a:prstGeom>
          <a:ln>
            <a:noFill/>
          </a:ln>
        </p:spPr>
        <p:txBody>
          <a:bodyPr anchorCtr="0" anchor="t" bIns="91425" lIns="91425" spcFirstLastPara="1" rIns="91425" wrap="square" tIns="91425">
            <a:normAutofit/>
          </a:bodyPr>
          <a:lstStyle/>
          <a:p>
            <a:pPr indent="-317500" lvl="0" marL="457200" marR="0" rtl="0" algn="l">
              <a:lnSpc>
                <a:spcPct val="150000"/>
              </a:lnSpc>
              <a:spcBef>
                <a:spcPts val="0"/>
              </a:spcBef>
              <a:spcAft>
                <a:spcPts val="0"/>
              </a:spcAft>
              <a:buClr>
                <a:schemeClr val="dk1"/>
              </a:buClr>
              <a:buSzPts val="1400"/>
              <a:buChar char="●"/>
            </a:pPr>
            <a:r>
              <a:rPr lang="en" sz="1400">
                <a:solidFill>
                  <a:schemeClr val="dk1"/>
                </a:solidFill>
              </a:rPr>
              <a:t>Posisi ke-6 dari 9</a:t>
            </a:r>
            <a:endParaRPr sz="1400">
              <a:solidFill>
                <a:schemeClr val="dk1"/>
              </a:solidFill>
            </a:endParaRPr>
          </a:p>
          <a:p>
            <a:pPr indent="-317500" lvl="0" marL="457200" marR="0" rtl="0" algn="l">
              <a:lnSpc>
                <a:spcPct val="150000"/>
              </a:lnSpc>
              <a:spcBef>
                <a:spcPts val="0"/>
              </a:spcBef>
              <a:spcAft>
                <a:spcPts val="0"/>
              </a:spcAft>
              <a:buClr>
                <a:schemeClr val="dk1"/>
              </a:buClr>
              <a:buSzPts val="1400"/>
              <a:buChar char="●"/>
            </a:pPr>
            <a:r>
              <a:rPr lang="en" sz="1400">
                <a:solidFill>
                  <a:schemeClr val="dk1"/>
                </a:solidFill>
              </a:rPr>
              <a:t>Relatif stagnan</a:t>
            </a:r>
            <a:endParaRPr i="1" sz="1400">
              <a:solidFill>
                <a:schemeClr val="dk1"/>
              </a:solidFill>
            </a:endParaRPr>
          </a:p>
          <a:p>
            <a:pPr indent="-317500" lvl="0" marL="457200" marR="0" rtl="0" algn="l">
              <a:lnSpc>
                <a:spcPct val="150000"/>
              </a:lnSpc>
              <a:spcBef>
                <a:spcPts val="0"/>
              </a:spcBef>
              <a:spcAft>
                <a:spcPts val="0"/>
              </a:spcAft>
              <a:buClr>
                <a:schemeClr val="dk1"/>
              </a:buClr>
              <a:buSzPts val="1400"/>
              <a:buChar char="●"/>
            </a:pPr>
            <a:r>
              <a:rPr lang="en" sz="1400">
                <a:solidFill>
                  <a:schemeClr val="dk1"/>
                </a:solidFill>
              </a:rPr>
              <a:t>Skor Indonesia naik, skor ASEAN juga naik</a:t>
            </a:r>
            <a:endParaRPr sz="1400">
              <a:solidFill>
                <a:schemeClr val="dk1"/>
              </a:solidFill>
            </a:endParaRPr>
          </a:p>
        </p:txBody>
      </p:sp>
      <p:sp>
        <p:nvSpPr>
          <p:cNvPr id="93" name="Google Shape;93;p16"/>
          <p:cNvSpPr/>
          <p:nvPr/>
        </p:nvSpPr>
        <p:spPr>
          <a:xfrm>
            <a:off x="5364550" y="1076575"/>
            <a:ext cx="34986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What stands out?</a:t>
            </a:r>
            <a:endParaRPr>
              <a:solidFill>
                <a:schemeClr val="accent6"/>
              </a:solidFill>
            </a:endParaRPr>
          </a:p>
        </p:txBody>
      </p:sp>
      <p:sp>
        <p:nvSpPr>
          <p:cNvPr id="94" name="Google Shape;94;p16"/>
          <p:cNvSpPr/>
          <p:nvPr/>
        </p:nvSpPr>
        <p:spPr>
          <a:xfrm>
            <a:off x="4736763" y="2504363"/>
            <a:ext cx="170725" cy="134775"/>
          </a:xfrm>
          <a:prstGeom prst="flowChartMerg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255700"/>
            <a:ext cx="8353800" cy="57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None/>
            </a:pPr>
            <a:r>
              <a:rPr b="1" lang="en" sz="2000">
                <a:solidFill>
                  <a:srgbClr val="1C4587"/>
                </a:solidFill>
              </a:rPr>
              <a:t>Perbandingan Skor Indonesia dan Negara dengan GDP Setara</a:t>
            </a:r>
            <a:endParaRPr b="1" sz="2000">
              <a:solidFill>
                <a:srgbClr val="1C4587"/>
              </a:solidFill>
            </a:endParaRPr>
          </a:p>
        </p:txBody>
      </p:sp>
      <p:sp>
        <p:nvSpPr>
          <p:cNvPr id="100" name="Google Shape;100;p17"/>
          <p:cNvSpPr/>
          <p:nvPr/>
        </p:nvSpPr>
        <p:spPr>
          <a:xfrm>
            <a:off x="5113800" y="890950"/>
            <a:ext cx="36414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What stands out?</a:t>
            </a:r>
            <a:endParaRPr>
              <a:solidFill>
                <a:schemeClr val="accent6"/>
              </a:solidFill>
            </a:endParaRPr>
          </a:p>
        </p:txBody>
      </p:sp>
      <p:pic>
        <p:nvPicPr>
          <p:cNvPr id="101" name="Google Shape;101;p17"/>
          <p:cNvPicPr preferRelativeResize="0"/>
          <p:nvPr/>
        </p:nvPicPr>
        <p:blipFill rotWithShape="1">
          <a:blip r:embed="rId3">
            <a:alphaModFix/>
          </a:blip>
          <a:srcRect b="0" l="0" r="23236" t="0"/>
          <a:stretch/>
        </p:blipFill>
        <p:spPr>
          <a:xfrm>
            <a:off x="311700" y="890950"/>
            <a:ext cx="4457350" cy="3961774"/>
          </a:xfrm>
          <a:prstGeom prst="rect">
            <a:avLst/>
          </a:prstGeom>
          <a:noFill/>
          <a:ln>
            <a:noFill/>
          </a:ln>
        </p:spPr>
      </p:pic>
      <p:pic>
        <p:nvPicPr>
          <p:cNvPr id="102" name="Google Shape;102;p17"/>
          <p:cNvPicPr preferRelativeResize="0"/>
          <p:nvPr/>
        </p:nvPicPr>
        <p:blipFill rotWithShape="1">
          <a:blip r:embed="rId3">
            <a:alphaModFix/>
          </a:blip>
          <a:srcRect b="70566" l="77320" r="0" t="6934"/>
          <a:stretch/>
        </p:blipFill>
        <p:spPr>
          <a:xfrm>
            <a:off x="3405625" y="3216950"/>
            <a:ext cx="1115125" cy="754800"/>
          </a:xfrm>
          <a:prstGeom prst="rect">
            <a:avLst/>
          </a:prstGeom>
          <a:noFill/>
          <a:ln>
            <a:noFill/>
          </a:ln>
        </p:spPr>
      </p:pic>
      <p:sp>
        <p:nvSpPr>
          <p:cNvPr id="103" name="Google Shape;103;p17"/>
          <p:cNvSpPr/>
          <p:nvPr/>
        </p:nvSpPr>
        <p:spPr>
          <a:xfrm rot="10800000">
            <a:off x="4403238" y="2341200"/>
            <a:ext cx="170725" cy="134775"/>
          </a:xfrm>
          <a:prstGeom prst="flowChartMerg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7"/>
          <p:cNvSpPr txBox="1"/>
          <p:nvPr>
            <p:ph idx="1" type="body"/>
          </p:nvPr>
        </p:nvSpPr>
        <p:spPr>
          <a:xfrm>
            <a:off x="5113800" y="1400105"/>
            <a:ext cx="3498600" cy="2454900"/>
          </a:xfrm>
          <a:prstGeom prst="rect">
            <a:avLst/>
          </a:prstGeom>
          <a:ln>
            <a:noFill/>
          </a:ln>
        </p:spPr>
        <p:txBody>
          <a:bodyPr anchorCtr="0" anchor="t" bIns="91425" lIns="91425" spcFirstLastPara="1" rIns="91425" wrap="square" tIns="91425">
            <a:normAutofit/>
          </a:bodyPr>
          <a:lstStyle/>
          <a:p>
            <a:pPr indent="-317500" lvl="0" marL="457200" marR="0" rtl="0" algn="l">
              <a:lnSpc>
                <a:spcPct val="150000"/>
              </a:lnSpc>
              <a:spcBef>
                <a:spcPts val="0"/>
              </a:spcBef>
              <a:spcAft>
                <a:spcPts val="0"/>
              </a:spcAft>
              <a:buClr>
                <a:schemeClr val="dk1"/>
              </a:buClr>
              <a:buSzPts val="1400"/>
              <a:buChar char="●"/>
            </a:pPr>
            <a:r>
              <a:rPr lang="en" sz="1400">
                <a:solidFill>
                  <a:schemeClr val="dk1"/>
                </a:solidFill>
              </a:rPr>
              <a:t>Posisi tengah</a:t>
            </a:r>
            <a:endParaRPr sz="1400">
              <a:solidFill>
                <a:schemeClr val="dk1"/>
              </a:solidFill>
            </a:endParaRPr>
          </a:p>
          <a:p>
            <a:pPr indent="-317500" lvl="0" marL="457200" marR="0" rtl="0" algn="l">
              <a:lnSpc>
                <a:spcPct val="150000"/>
              </a:lnSpc>
              <a:spcBef>
                <a:spcPts val="0"/>
              </a:spcBef>
              <a:spcAft>
                <a:spcPts val="0"/>
              </a:spcAft>
              <a:buClr>
                <a:schemeClr val="dk1"/>
              </a:buClr>
              <a:buSzPts val="1400"/>
              <a:buChar char="●"/>
            </a:pPr>
            <a:r>
              <a:rPr i="1" lang="en" sz="1400">
                <a:solidFill>
                  <a:schemeClr val="dk1"/>
                </a:solidFill>
              </a:rPr>
              <a:t>Tren: </a:t>
            </a:r>
            <a:r>
              <a:rPr i="1" lang="en" sz="1400">
                <a:solidFill>
                  <a:schemeClr val="dk1"/>
                </a:solidFill>
              </a:rPr>
              <a:t>Relatif Stabil Naik</a:t>
            </a:r>
            <a:endParaRPr sz="1400">
              <a:solidFill>
                <a:schemeClr val="dk1"/>
              </a:solidFill>
            </a:endParaRPr>
          </a:p>
          <a:p>
            <a:pPr indent="0" lvl="0" marL="457200" marR="0" rtl="0" algn="l">
              <a:lnSpc>
                <a:spcPct val="150000"/>
              </a:lnSpc>
              <a:spcBef>
                <a:spcPts val="1200"/>
              </a:spcBef>
              <a:spcAft>
                <a:spcPts val="1200"/>
              </a:spcAft>
              <a:buNone/>
            </a:pPr>
            <a:r>
              <a:t/>
            </a:r>
            <a:endParaRPr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p:nvPr/>
        </p:nvSpPr>
        <p:spPr>
          <a:xfrm>
            <a:off x="311525" y="252975"/>
            <a:ext cx="83538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000">
                <a:solidFill>
                  <a:schemeClr val="accent6"/>
                </a:solidFill>
              </a:rPr>
              <a:t>Perbandingan dengan Data Lain</a:t>
            </a:r>
            <a:endParaRPr b="1" sz="2000">
              <a:solidFill>
                <a:schemeClr val="accent6"/>
              </a:solidFill>
            </a:endParaRPr>
          </a:p>
        </p:txBody>
      </p:sp>
      <p:sp>
        <p:nvSpPr>
          <p:cNvPr id="110" name="Google Shape;110;p18"/>
          <p:cNvSpPr txBox="1"/>
          <p:nvPr>
            <p:ph idx="1" type="body"/>
          </p:nvPr>
        </p:nvSpPr>
        <p:spPr>
          <a:xfrm>
            <a:off x="311525" y="1521350"/>
            <a:ext cx="3046800" cy="3028200"/>
          </a:xfrm>
          <a:prstGeom prst="rect">
            <a:avLst/>
          </a:prstGeom>
          <a:ln>
            <a:noFill/>
          </a:ln>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Peningkatan Kebahagiaan Subjektif mengejar rata-rata global</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Posisi Indonesia cukup di tengah, di antara negara dengan GDP setara</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Pentingnya Rasa Otonomi</a:t>
            </a:r>
            <a:endParaRPr sz="1500">
              <a:solidFill>
                <a:schemeClr val="dk1"/>
              </a:solidFill>
            </a:endParaRPr>
          </a:p>
          <a:p>
            <a:pPr indent="-323850" lvl="0" marL="457200" rtl="0" algn="l">
              <a:spcBef>
                <a:spcPts val="0"/>
              </a:spcBef>
              <a:spcAft>
                <a:spcPts val="0"/>
              </a:spcAft>
              <a:buClr>
                <a:schemeClr val="dk1"/>
              </a:buClr>
              <a:buSzPts val="1500"/>
              <a:buChar char="●"/>
            </a:pPr>
            <a:r>
              <a:rPr lang="en" sz="1600">
                <a:solidFill>
                  <a:schemeClr val="dk1"/>
                </a:solidFill>
              </a:rPr>
              <a:t>Kedermawanan Indonesia tertinggi dunia.</a:t>
            </a:r>
            <a:endParaRPr sz="1500">
              <a:solidFill>
                <a:schemeClr val="dk1"/>
              </a:solidFill>
            </a:endParaRPr>
          </a:p>
        </p:txBody>
      </p:sp>
      <p:pic>
        <p:nvPicPr>
          <p:cNvPr id="111" name="Google Shape;111;p18"/>
          <p:cNvPicPr preferRelativeResize="0"/>
          <p:nvPr/>
        </p:nvPicPr>
        <p:blipFill>
          <a:blip r:embed="rId3">
            <a:alphaModFix/>
          </a:blip>
          <a:stretch>
            <a:fillRect/>
          </a:stretch>
        </p:blipFill>
        <p:spPr>
          <a:xfrm>
            <a:off x="311525" y="837613"/>
            <a:ext cx="1074799" cy="537400"/>
          </a:xfrm>
          <a:prstGeom prst="rect">
            <a:avLst/>
          </a:prstGeom>
          <a:noFill/>
          <a:ln>
            <a:noFill/>
          </a:ln>
        </p:spPr>
      </p:pic>
      <p:pic>
        <p:nvPicPr>
          <p:cNvPr id="112" name="Google Shape;112;p18"/>
          <p:cNvPicPr preferRelativeResize="0"/>
          <p:nvPr/>
        </p:nvPicPr>
        <p:blipFill>
          <a:blip r:embed="rId4">
            <a:alphaModFix/>
          </a:blip>
          <a:stretch>
            <a:fillRect/>
          </a:stretch>
        </p:blipFill>
        <p:spPr>
          <a:xfrm>
            <a:off x="3717790" y="803000"/>
            <a:ext cx="1708425" cy="2081600"/>
          </a:xfrm>
          <a:prstGeom prst="rect">
            <a:avLst/>
          </a:prstGeom>
          <a:noFill/>
          <a:ln>
            <a:noFill/>
          </a:ln>
        </p:spPr>
      </p:pic>
      <p:sp>
        <p:nvSpPr>
          <p:cNvPr id="113" name="Google Shape;113;p18"/>
          <p:cNvSpPr txBox="1"/>
          <p:nvPr>
            <p:ph idx="1" type="body"/>
          </p:nvPr>
        </p:nvSpPr>
        <p:spPr>
          <a:xfrm>
            <a:off x="3792050" y="3132200"/>
            <a:ext cx="4572000" cy="1253700"/>
          </a:xfrm>
          <a:prstGeom prst="rect">
            <a:avLst/>
          </a:prstGeom>
          <a:ln>
            <a:noFill/>
          </a:ln>
        </p:spPr>
        <p:txBody>
          <a:bodyPr anchorCtr="0" anchor="t" bIns="91425" lIns="91425" spcFirstLastPara="1" rIns="91425" wrap="square" tIns="91425">
            <a:normAutofit lnSpcReduction="10000"/>
          </a:bodyPr>
          <a:lstStyle/>
          <a:p>
            <a:pPr indent="-323850" lvl="0" marL="457200" rtl="0" algn="l">
              <a:spcBef>
                <a:spcPts val="0"/>
              </a:spcBef>
              <a:spcAft>
                <a:spcPts val="0"/>
              </a:spcAft>
              <a:buClr>
                <a:schemeClr val="dk1"/>
              </a:buClr>
              <a:buSzPts val="1500"/>
              <a:buChar char="●"/>
            </a:pPr>
            <a:r>
              <a:rPr lang="en" sz="1600">
                <a:solidFill>
                  <a:schemeClr val="dk1"/>
                </a:solidFill>
              </a:rPr>
              <a:t>Jumlah kelas menengah menyusut (-9.5jt) dari 2019-2024 (BPS, 2024)</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Secara umum cukup baik kecuali urusan finansial (ISS, 2025)</a:t>
            </a:r>
            <a:endParaRPr sz="1600">
              <a:solidFill>
                <a:schemeClr val="dk1"/>
              </a:solidFill>
            </a:endParaRPr>
          </a:p>
        </p:txBody>
      </p:sp>
      <p:pic>
        <p:nvPicPr>
          <p:cNvPr id="114" name="Google Shape;114;p18"/>
          <p:cNvPicPr preferRelativeResize="0"/>
          <p:nvPr/>
        </p:nvPicPr>
        <p:blipFill>
          <a:blip r:embed="rId5">
            <a:alphaModFix/>
          </a:blip>
          <a:stretch>
            <a:fillRect/>
          </a:stretch>
        </p:blipFill>
        <p:spPr>
          <a:xfrm>
            <a:off x="5500475" y="803000"/>
            <a:ext cx="3155542" cy="2081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p:nvPr/>
        </p:nvSpPr>
        <p:spPr>
          <a:xfrm>
            <a:off x="311525" y="252975"/>
            <a:ext cx="8353800" cy="438300"/>
          </a:xfrm>
          <a:prstGeom prst="roundRect">
            <a:avLst>
              <a:gd fmla="val 16667" name="adj"/>
            </a:avLst>
          </a:prstGeom>
          <a:solidFill>
            <a:srgbClr val="465A8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000">
                <a:solidFill>
                  <a:schemeClr val="accent6"/>
                </a:solidFill>
              </a:rPr>
              <a:t>Kesimpulan</a:t>
            </a:r>
            <a:endParaRPr b="1" sz="2000">
              <a:solidFill>
                <a:schemeClr val="accent6"/>
              </a:solidFill>
            </a:endParaRPr>
          </a:p>
        </p:txBody>
      </p:sp>
      <p:sp>
        <p:nvSpPr>
          <p:cNvPr id="120" name="Google Shape;120;p19"/>
          <p:cNvSpPr txBox="1"/>
          <p:nvPr/>
        </p:nvSpPr>
        <p:spPr>
          <a:xfrm>
            <a:off x="1889250" y="2218375"/>
            <a:ext cx="4880700" cy="139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50">
                <a:solidFill>
                  <a:srgbClr val="222222"/>
                </a:solidFill>
                <a:highlight>
                  <a:srgbClr val="FFFFFF"/>
                </a:highlight>
                <a:latin typeface="Lora"/>
                <a:ea typeface="Lora"/>
                <a:cs typeface="Lora"/>
                <a:sym typeface="Lora"/>
              </a:rPr>
              <a:t>“When injustice is accepted as normal, what actually occurs is symbolic violence. High levels of flourishing amidst structural poverty are a sign of adaptation to suffering, not progress.</a:t>
            </a:r>
            <a:r>
              <a:rPr lang="en" sz="1100">
                <a:solidFill>
                  <a:schemeClr val="dk1"/>
                </a:solidFill>
              </a:rPr>
              <a:t>”</a:t>
            </a:r>
            <a:endParaRPr sz="1100">
              <a:solidFill>
                <a:schemeClr val="dk1"/>
              </a:solidFill>
            </a:endParaRPr>
          </a:p>
          <a:p>
            <a:pPr indent="0" lvl="0" marL="0" rtl="0" algn="ctr">
              <a:spcBef>
                <a:spcPts val="0"/>
              </a:spcBef>
              <a:spcAft>
                <a:spcPts val="0"/>
              </a:spcAft>
              <a:buNone/>
            </a:pPr>
            <a:br>
              <a:rPr lang="en" sz="1100">
                <a:solidFill>
                  <a:schemeClr val="dk1"/>
                </a:solidFill>
              </a:rPr>
            </a:br>
            <a:r>
              <a:rPr lang="en" sz="1100">
                <a:solidFill>
                  <a:schemeClr val="dk1"/>
                </a:solidFill>
              </a:rPr>
              <a:t>– </a:t>
            </a:r>
            <a:r>
              <a:rPr lang="en" sz="1350">
                <a:solidFill>
                  <a:srgbClr val="222222"/>
                </a:solidFill>
                <a:highlight>
                  <a:srgbClr val="FFFFFF"/>
                </a:highlight>
                <a:latin typeface="Lora"/>
                <a:ea typeface="Lora"/>
                <a:cs typeface="Lora"/>
                <a:sym typeface="Lora"/>
              </a:rPr>
              <a:t>Pierre Bourdieu</a:t>
            </a:r>
            <a:r>
              <a:rPr lang="en" sz="1100">
                <a:solidFill>
                  <a:schemeClr val="dk1"/>
                </a:solidFill>
              </a:rPr>
              <a:t> –</a:t>
            </a:r>
            <a:endParaRPr/>
          </a:p>
        </p:txBody>
      </p:sp>
      <p:sp>
        <p:nvSpPr>
          <p:cNvPr id="121" name="Google Shape;121;p19"/>
          <p:cNvSpPr txBox="1"/>
          <p:nvPr>
            <p:ph idx="1" type="body"/>
          </p:nvPr>
        </p:nvSpPr>
        <p:spPr>
          <a:xfrm>
            <a:off x="311525" y="1057650"/>
            <a:ext cx="8250600" cy="3028200"/>
          </a:xfrm>
          <a:prstGeom prst="rect">
            <a:avLst/>
          </a:prstGeom>
          <a:ln>
            <a:noFill/>
          </a:ln>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600">
                <a:solidFill>
                  <a:schemeClr val="dk1"/>
                </a:solidFill>
              </a:rPr>
              <a:t>Secara subjective, tingkat kebahagiaan Indonesia mengejar rata-rata global</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Indonesia stagnan dibanding ASEAN  dan negara GDP setara</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Kontradiksi kebahagiaan subjective vs kondisi ekonomi riil.</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