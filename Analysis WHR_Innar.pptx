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6858000" cy="9144000"/>
  <p:embeddedFontLst>
    <p:embeddedFont>
      <p:font typeface="Lora" pitchFamily="2"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638" y="53"/>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h781656fa7bbe7a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h781656fa7bbe7ae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h781656fa7bbe7aee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h781656fa7bbe7aee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h781656fa7bbe7aee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h781656fa7bbe7aee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h776e57e1fef725df_2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h776e57e1fef725df_2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h776e57e1fef725df_2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h776e57e1fef725df_2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h433ea73c57905e34_8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h433ea73c57905e34_8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65A8F"/>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780075" y="618875"/>
            <a:ext cx="6519600" cy="2378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SzPts val="990"/>
              <a:buNone/>
            </a:pPr>
            <a:r>
              <a:rPr lang="en" sz="4080">
                <a:solidFill>
                  <a:schemeClr val="lt1"/>
                </a:solidFill>
              </a:rPr>
              <a:t>Indonesia’s</a:t>
            </a:r>
            <a:endParaRPr sz="4080">
              <a:solidFill>
                <a:schemeClr val="lt1"/>
              </a:solidFill>
            </a:endParaRPr>
          </a:p>
          <a:p>
            <a:pPr marL="0" lvl="0" indent="0" algn="l" rtl="0">
              <a:spcBef>
                <a:spcPts val="0"/>
              </a:spcBef>
              <a:spcAft>
                <a:spcPts val="0"/>
              </a:spcAft>
              <a:buSzPts val="990"/>
              <a:buNone/>
            </a:pPr>
            <a:r>
              <a:rPr lang="en" sz="4080">
                <a:solidFill>
                  <a:schemeClr val="lt1"/>
                </a:solidFill>
              </a:rPr>
              <a:t>World Happiness Report </a:t>
            </a:r>
            <a:endParaRPr sz="4080">
              <a:solidFill>
                <a:schemeClr val="lt1"/>
              </a:solidFill>
            </a:endParaRPr>
          </a:p>
          <a:p>
            <a:pPr marL="0" lvl="0" indent="0" algn="l" rtl="0">
              <a:spcBef>
                <a:spcPts val="0"/>
              </a:spcBef>
              <a:spcAft>
                <a:spcPts val="0"/>
              </a:spcAft>
              <a:buSzPts val="990"/>
              <a:buNone/>
            </a:pPr>
            <a:r>
              <a:rPr lang="en" sz="4080">
                <a:solidFill>
                  <a:schemeClr val="lt1"/>
                </a:solidFill>
              </a:rPr>
              <a:t>Analysis</a:t>
            </a:r>
            <a:endParaRPr sz="4080">
              <a:solidFill>
                <a:schemeClr val="lt1"/>
              </a:solidFill>
            </a:endParaRPr>
          </a:p>
        </p:txBody>
      </p:sp>
      <p:sp>
        <p:nvSpPr>
          <p:cNvPr id="55" name="Google Shape;55;p13"/>
          <p:cNvSpPr txBox="1">
            <a:spLocks noGrp="1"/>
          </p:cNvSpPr>
          <p:nvPr>
            <p:ph type="subTitle" idx="1"/>
          </p:nvPr>
        </p:nvSpPr>
        <p:spPr>
          <a:xfrm>
            <a:off x="780075" y="3281425"/>
            <a:ext cx="8052300" cy="884700"/>
          </a:xfrm>
          <a:prstGeom prst="rect">
            <a:avLst/>
          </a:prstGeom>
        </p:spPr>
        <p:txBody>
          <a:bodyPr spcFirstLastPara="1" wrap="square" lIns="91425" tIns="91425" rIns="91425" bIns="91425" anchor="t" anchorCtr="0">
            <a:normAutofit/>
          </a:bodyPr>
          <a:lstStyle/>
          <a:p>
            <a:pPr marL="0" lvl="0" indent="0" algn="l" rtl="0">
              <a:lnSpc>
                <a:spcPct val="80000"/>
              </a:lnSpc>
              <a:spcBef>
                <a:spcPts val="0"/>
              </a:spcBef>
              <a:spcAft>
                <a:spcPts val="0"/>
              </a:spcAft>
              <a:buSzPts val="853"/>
              <a:buNone/>
            </a:pPr>
            <a:r>
              <a:rPr lang="en" sz="1670">
                <a:solidFill>
                  <a:schemeClr val="accent6"/>
                </a:solidFill>
              </a:rPr>
              <a:t>Innarcaya Nadiar</a:t>
            </a:r>
            <a:endParaRPr sz="1670">
              <a:solidFill>
                <a:schemeClr val="accent6"/>
              </a:solidFill>
            </a:endParaRPr>
          </a:p>
          <a:p>
            <a:pPr marL="0" lvl="0" indent="0" algn="l" rtl="0">
              <a:lnSpc>
                <a:spcPct val="80000"/>
              </a:lnSpc>
              <a:spcBef>
                <a:spcPts val="0"/>
              </a:spcBef>
              <a:spcAft>
                <a:spcPts val="0"/>
              </a:spcAft>
              <a:buSzPts val="853"/>
              <a:buNone/>
            </a:pPr>
            <a:endParaRPr sz="1670">
              <a:solidFill>
                <a:schemeClr val="accent6"/>
              </a:solidFill>
            </a:endParaRPr>
          </a:p>
          <a:p>
            <a:pPr marL="0" lvl="0" indent="0" algn="l" rtl="0">
              <a:lnSpc>
                <a:spcPct val="80000"/>
              </a:lnSpc>
              <a:spcBef>
                <a:spcPts val="0"/>
              </a:spcBef>
              <a:spcAft>
                <a:spcPts val="0"/>
              </a:spcAft>
              <a:buSzPts val="853"/>
              <a:buNone/>
            </a:pPr>
            <a:r>
              <a:rPr lang="en" sz="1670">
                <a:solidFill>
                  <a:schemeClr val="accent6"/>
                </a:solidFill>
              </a:rPr>
              <a:t>23 September 2026</a:t>
            </a:r>
            <a:endParaRPr sz="1670">
              <a:solidFill>
                <a:schemeClr val="accent6"/>
              </a:solidFill>
            </a:endParaRPr>
          </a:p>
          <a:p>
            <a:pPr marL="0" lvl="0" indent="0" algn="l" rtl="0">
              <a:lnSpc>
                <a:spcPct val="80000"/>
              </a:lnSpc>
              <a:spcBef>
                <a:spcPts val="0"/>
              </a:spcBef>
              <a:spcAft>
                <a:spcPts val="0"/>
              </a:spcAft>
              <a:buSzPts val="853"/>
              <a:buNone/>
            </a:pPr>
            <a:endParaRPr sz="1670">
              <a:solidFill>
                <a:schemeClr val="accent6"/>
              </a:solidFill>
            </a:endParaRPr>
          </a:p>
        </p:txBody>
      </p:sp>
      <p:pic>
        <p:nvPicPr>
          <p:cNvPr id="56" name="Google Shape;56;p13"/>
          <p:cNvPicPr preferRelativeResize="0"/>
          <p:nvPr/>
        </p:nvPicPr>
        <p:blipFill>
          <a:blip r:embed="rId3">
            <a:alphaModFix/>
          </a:blip>
          <a:stretch>
            <a:fillRect/>
          </a:stretch>
        </p:blipFill>
        <p:spPr>
          <a:xfrm>
            <a:off x="6572900" y="3097325"/>
            <a:ext cx="2044500" cy="1022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311700" y="255700"/>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en" sz="2000" b="1">
                <a:solidFill>
                  <a:srgbClr val="1C4587"/>
                </a:solidFill>
              </a:rPr>
              <a:t>Latar Belakang dan Gambaran Umum</a:t>
            </a:r>
            <a:endParaRPr sz="3000" b="1">
              <a:solidFill>
                <a:srgbClr val="1C4587"/>
              </a:solidFill>
            </a:endParaRPr>
          </a:p>
        </p:txBody>
      </p:sp>
      <p:sp>
        <p:nvSpPr>
          <p:cNvPr id="62" name="Google Shape;62;p14"/>
          <p:cNvSpPr txBox="1">
            <a:spLocks noGrp="1"/>
          </p:cNvSpPr>
          <p:nvPr>
            <p:ph type="body" idx="1"/>
          </p:nvPr>
        </p:nvSpPr>
        <p:spPr>
          <a:xfrm>
            <a:off x="5074550" y="1397000"/>
            <a:ext cx="3651000" cy="2457600"/>
          </a:xfrm>
          <a:prstGeom prst="rect">
            <a:avLst/>
          </a:prstGeom>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SzPts val="853"/>
              <a:buNone/>
            </a:pPr>
            <a:r>
              <a:rPr lang="en" sz="1185">
                <a:solidFill>
                  <a:schemeClr val="dk1"/>
                </a:solidFill>
              </a:rPr>
              <a:t>Indonesia in general:</a:t>
            </a:r>
            <a:endParaRPr sz="1185">
              <a:solidFill>
                <a:schemeClr val="dk1"/>
              </a:solidFill>
            </a:endParaRPr>
          </a:p>
          <a:p>
            <a:pPr marL="457200" lvl="0" indent="-303848" algn="l" rtl="0">
              <a:lnSpc>
                <a:spcPct val="95000"/>
              </a:lnSpc>
              <a:spcBef>
                <a:spcPts val="1200"/>
              </a:spcBef>
              <a:spcAft>
                <a:spcPts val="0"/>
              </a:spcAft>
              <a:buClr>
                <a:schemeClr val="dk1"/>
              </a:buClr>
              <a:buSzPts val="1185"/>
              <a:buChar char="●"/>
            </a:pPr>
            <a:r>
              <a:rPr lang="en" sz="1185">
                <a:solidFill>
                  <a:schemeClr val="dk1"/>
                </a:solidFill>
              </a:rPr>
              <a:t>Average in 5 yr: 5.46 out of 10</a:t>
            </a:r>
            <a:endParaRPr sz="1185">
              <a:solidFill>
                <a:schemeClr val="dk1"/>
              </a:solidFill>
            </a:endParaRPr>
          </a:p>
          <a:p>
            <a:pPr marL="457200" lvl="0" indent="-303848" algn="l" rtl="0">
              <a:lnSpc>
                <a:spcPct val="95000"/>
              </a:lnSpc>
              <a:spcBef>
                <a:spcPts val="0"/>
              </a:spcBef>
              <a:spcAft>
                <a:spcPts val="0"/>
              </a:spcAft>
              <a:buClr>
                <a:schemeClr val="dk1"/>
              </a:buClr>
              <a:buSzPts val="1185"/>
              <a:buChar char="●"/>
            </a:pPr>
            <a:r>
              <a:rPr lang="en" sz="1185">
                <a:solidFill>
                  <a:schemeClr val="dk1"/>
                </a:solidFill>
              </a:rPr>
              <a:t>Lowest in 2017: 5.1</a:t>
            </a:r>
            <a:endParaRPr sz="1185">
              <a:solidFill>
                <a:schemeClr val="dk1"/>
              </a:solidFill>
            </a:endParaRPr>
          </a:p>
          <a:p>
            <a:pPr marL="457200" lvl="0" indent="-303848" algn="l" rtl="0">
              <a:lnSpc>
                <a:spcPct val="95000"/>
              </a:lnSpc>
              <a:spcBef>
                <a:spcPts val="0"/>
              </a:spcBef>
              <a:spcAft>
                <a:spcPts val="0"/>
              </a:spcAft>
              <a:buClr>
                <a:schemeClr val="dk1"/>
              </a:buClr>
              <a:buSzPts val="1185"/>
              <a:buChar char="●"/>
            </a:pPr>
            <a:r>
              <a:rPr lang="en" sz="1185">
                <a:solidFill>
                  <a:schemeClr val="dk1"/>
                </a:solidFill>
              </a:rPr>
              <a:t>Highest in 2024: 5.6</a:t>
            </a:r>
            <a:endParaRPr sz="1185">
              <a:solidFill>
                <a:schemeClr val="dk1"/>
              </a:solidFill>
            </a:endParaRPr>
          </a:p>
          <a:p>
            <a:pPr marL="457200" lvl="0" indent="-303848" algn="l" rtl="0">
              <a:lnSpc>
                <a:spcPct val="95000"/>
              </a:lnSpc>
              <a:spcBef>
                <a:spcPts val="0"/>
              </a:spcBef>
              <a:spcAft>
                <a:spcPts val="0"/>
              </a:spcAft>
              <a:buClr>
                <a:schemeClr val="dk1"/>
              </a:buClr>
              <a:buSzPts val="1185"/>
              <a:buChar char="●"/>
            </a:pPr>
            <a:r>
              <a:rPr lang="en" sz="1185">
                <a:solidFill>
                  <a:schemeClr val="dk1"/>
                </a:solidFill>
              </a:rPr>
              <a:t>Fluctuative</a:t>
            </a:r>
            <a:endParaRPr sz="1185">
              <a:solidFill>
                <a:schemeClr val="dk1"/>
              </a:solidFill>
            </a:endParaRPr>
          </a:p>
          <a:p>
            <a:pPr marL="0" lvl="0" indent="0" algn="l" rtl="0">
              <a:lnSpc>
                <a:spcPct val="95000"/>
              </a:lnSpc>
              <a:spcBef>
                <a:spcPts val="1200"/>
              </a:spcBef>
              <a:spcAft>
                <a:spcPts val="0"/>
              </a:spcAft>
              <a:buSzPts val="853"/>
              <a:buNone/>
            </a:pPr>
            <a:r>
              <a:rPr lang="en" sz="1185">
                <a:solidFill>
                  <a:schemeClr val="dk1"/>
                </a:solidFill>
              </a:rPr>
              <a:t>Last 5 years:</a:t>
            </a:r>
            <a:endParaRPr sz="1185">
              <a:solidFill>
                <a:schemeClr val="dk1"/>
              </a:solidFill>
            </a:endParaRPr>
          </a:p>
          <a:p>
            <a:pPr marL="457200" lvl="0" indent="-303848" algn="l" rtl="0">
              <a:lnSpc>
                <a:spcPct val="95000"/>
              </a:lnSpc>
              <a:spcBef>
                <a:spcPts val="1200"/>
              </a:spcBef>
              <a:spcAft>
                <a:spcPts val="0"/>
              </a:spcAft>
              <a:buClr>
                <a:schemeClr val="dk1"/>
              </a:buClr>
              <a:buSzPts val="1185"/>
              <a:buChar char="●"/>
            </a:pPr>
            <a:r>
              <a:rPr lang="en" sz="1185">
                <a:solidFill>
                  <a:schemeClr val="dk1"/>
                </a:solidFill>
              </a:rPr>
              <a:t>Skor naik 2021-2025 (+0.37)</a:t>
            </a:r>
            <a:endParaRPr sz="1185">
              <a:solidFill>
                <a:schemeClr val="dk1"/>
              </a:solidFill>
            </a:endParaRPr>
          </a:p>
          <a:p>
            <a:pPr marL="457200" lvl="0" indent="-303848" algn="l" rtl="0">
              <a:lnSpc>
                <a:spcPct val="95000"/>
              </a:lnSpc>
              <a:spcBef>
                <a:spcPts val="0"/>
              </a:spcBef>
              <a:spcAft>
                <a:spcPts val="0"/>
              </a:spcAft>
              <a:buClr>
                <a:schemeClr val="dk1"/>
              </a:buClr>
              <a:buSzPts val="1185"/>
              <a:buChar char="●"/>
            </a:pPr>
            <a:r>
              <a:rPr lang="en" sz="1185">
                <a:solidFill>
                  <a:schemeClr val="dk1"/>
                </a:solidFill>
              </a:rPr>
              <a:t>Tingkat kebahagiaan:</a:t>
            </a:r>
            <a:br>
              <a:rPr lang="en" sz="1185">
                <a:solidFill>
                  <a:schemeClr val="dk1"/>
                </a:solidFill>
              </a:rPr>
            </a:br>
            <a:r>
              <a:rPr lang="en" sz="1185">
                <a:solidFill>
                  <a:schemeClr val="dk1"/>
                </a:solidFill>
              </a:rPr>
              <a:t>Indonesia≈Global</a:t>
            </a:r>
            <a:endParaRPr sz="1185">
              <a:solidFill>
                <a:schemeClr val="dk1"/>
              </a:solidFill>
            </a:endParaRPr>
          </a:p>
          <a:p>
            <a:pPr marL="457200" lvl="0" indent="-303848" algn="l" rtl="0">
              <a:lnSpc>
                <a:spcPct val="95000"/>
              </a:lnSpc>
              <a:spcBef>
                <a:spcPts val="0"/>
              </a:spcBef>
              <a:spcAft>
                <a:spcPts val="0"/>
              </a:spcAft>
              <a:buClr>
                <a:schemeClr val="dk1"/>
              </a:buClr>
              <a:buSzPts val="1185"/>
              <a:buChar char="●"/>
            </a:pPr>
            <a:r>
              <a:rPr lang="en" sz="1185">
                <a:solidFill>
                  <a:schemeClr val="dk1"/>
                </a:solidFill>
              </a:rPr>
              <a:t>Peringkat turun (2023: 80, 2025: 87)</a:t>
            </a:r>
            <a:endParaRPr sz="1185">
              <a:solidFill>
                <a:schemeClr val="dk1"/>
              </a:solidFill>
            </a:endParaRPr>
          </a:p>
          <a:p>
            <a:pPr marL="457200" lvl="0" indent="0" algn="l" rtl="0">
              <a:lnSpc>
                <a:spcPct val="95000"/>
              </a:lnSpc>
              <a:spcBef>
                <a:spcPts val="1200"/>
              </a:spcBef>
              <a:spcAft>
                <a:spcPts val="1200"/>
              </a:spcAft>
              <a:buSzPts val="853"/>
              <a:buNone/>
            </a:pPr>
            <a:endParaRPr sz="1185">
              <a:solidFill>
                <a:schemeClr val="dk1"/>
              </a:solidFill>
            </a:endParaRPr>
          </a:p>
        </p:txBody>
      </p:sp>
      <p:pic>
        <p:nvPicPr>
          <p:cNvPr id="63" name="Google Shape;63;p14"/>
          <p:cNvPicPr preferRelativeResize="0"/>
          <p:nvPr/>
        </p:nvPicPr>
        <p:blipFill rotWithShape="1">
          <a:blip r:embed="rId3">
            <a:alphaModFix/>
          </a:blip>
          <a:srcRect l="18693"/>
          <a:stretch/>
        </p:blipFill>
        <p:spPr>
          <a:xfrm>
            <a:off x="355225" y="886800"/>
            <a:ext cx="4451200" cy="936100"/>
          </a:xfrm>
          <a:prstGeom prst="rect">
            <a:avLst/>
          </a:prstGeom>
          <a:noFill/>
          <a:ln>
            <a:noFill/>
          </a:ln>
        </p:spPr>
      </p:pic>
      <p:pic>
        <p:nvPicPr>
          <p:cNvPr id="64" name="Google Shape;64;p14"/>
          <p:cNvPicPr preferRelativeResize="0"/>
          <p:nvPr/>
        </p:nvPicPr>
        <p:blipFill>
          <a:blip r:embed="rId4">
            <a:alphaModFix/>
          </a:blip>
          <a:stretch>
            <a:fillRect/>
          </a:stretch>
        </p:blipFill>
        <p:spPr>
          <a:xfrm>
            <a:off x="355225" y="1822900"/>
            <a:ext cx="2187800" cy="295500"/>
          </a:xfrm>
          <a:prstGeom prst="rect">
            <a:avLst/>
          </a:prstGeom>
          <a:noFill/>
          <a:ln>
            <a:noFill/>
          </a:ln>
        </p:spPr>
      </p:pic>
      <p:grpSp>
        <p:nvGrpSpPr>
          <p:cNvPr id="65" name="Google Shape;65;p14"/>
          <p:cNvGrpSpPr/>
          <p:nvPr/>
        </p:nvGrpSpPr>
        <p:grpSpPr>
          <a:xfrm>
            <a:off x="85295" y="2167642"/>
            <a:ext cx="4859658" cy="2813946"/>
            <a:chOff x="355225" y="2188675"/>
            <a:chExt cx="4497601" cy="2604300"/>
          </a:xfrm>
        </p:grpSpPr>
        <p:pic>
          <p:nvPicPr>
            <p:cNvPr id="66" name="Google Shape;66;p14"/>
            <p:cNvPicPr preferRelativeResize="0"/>
            <p:nvPr/>
          </p:nvPicPr>
          <p:blipFill>
            <a:blip r:embed="rId5">
              <a:alphaModFix/>
            </a:blip>
            <a:stretch>
              <a:fillRect/>
            </a:stretch>
          </p:blipFill>
          <p:spPr>
            <a:xfrm>
              <a:off x="355225" y="2188675"/>
              <a:ext cx="4497601" cy="2604300"/>
            </a:xfrm>
            <a:prstGeom prst="rect">
              <a:avLst/>
            </a:prstGeom>
            <a:noFill/>
            <a:ln>
              <a:noFill/>
            </a:ln>
          </p:spPr>
        </p:pic>
        <p:sp>
          <p:nvSpPr>
            <p:cNvPr id="67" name="Google Shape;67;p14"/>
            <p:cNvSpPr/>
            <p:nvPr/>
          </p:nvSpPr>
          <p:spPr>
            <a:xfrm>
              <a:off x="3530825" y="2356625"/>
              <a:ext cx="1108500" cy="2184300"/>
            </a:xfrm>
            <a:prstGeom prst="rect">
              <a:avLst/>
            </a:prstGeom>
            <a:noFill/>
            <a:ln w="10300" cap="flat" cmpd="sng">
              <a:solidFill>
                <a:schemeClr val="accent6"/>
              </a:solidFill>
              <a:prstDash val="solid"/>
              <a:round/>
              <a:headEnd type="none" w="sm" len="sm"/>
              <a:tailEnd type="none" w="sm" len="sm"/>
            </a:ln>
          </p:spPr>
          <p:txBody>
            <a:bodyPr spcFirstLastPara="1" wrap="square" lIns="98800" tIns="98800" rIns="98800" bIns="98800" anchor="ctr" anchorCtr="0">
              <a:noAutofit/>
            </a:bodyPr>
            <a:lstStyle/>
            <a:p>
              <a:pPr marL="0" lvl="0" indent="0" algn="ctr" rtl="0">
                <a:spcBef>
                  <a:spcPts val="0"/>
                </a:spcBef>
                <a:spcAft>
                  <a:spcPts val="0"/>
                </a:spcAft>
                <a:buNone/>
              </a:pPr>
              <a:endParaRPr sz="1513"/>
            </a:p>
          </p:txBody>
        </p:sp>
        <p:sp>
          <p:nvSpPr>
            <p:cNvPr id="68" name="Google Shape;68;p14"/>
            <p:cNvSpPr/>
            <p:nvPr/>
          </p:nvSpPr>
          <p:spPr>
            <a:xfrm>
              <a:off x="4204150" y="2381250"/>
              <a:ext cx="279300" cy="312000"/>
            </a:xfrm>
            <a:prstGeom prst="ellipse">
              <a:avLst/>
            </a:prstGeom>
            <a:noFill/>
            <a:ln w="10300" cap="flat" cmpd="sng">
              <a:solidFill>
                <a:srgbClr val="00FF00"/>
              </a:solidFill>
              <a:prstDash val="solid"/>
              <a:round/>
              <a:headEnd type="none" w="sm" len="sm"/>
              <a:tailEnd type="none" w="sm" len="sm"/>
            </a:ln>
          </p:spPr>
          <p:txBody>
            <a:bodyPr spcFirstLastPara="1" wrap="square" lIns="98800" tIns="98800" rIns="98800" bIns="98800" anchor="ctr" anchorCtr="0">
              <a:noAutofit/>
            </a:bodyPr>
            <a:lstStyle/>
            <a:p>
              <a:pPr marL="0" lvl="0" indent="0" algn="ctr" rtl="0">
                <a:spcBef>
                  <a:spcPts val="0"/>
                </a:spcBef>
                <a:spcAft>
                  <a:spcPts val="0"/>
                </a:spcAft>
                <a:buNone/>
              </a:pPr>
              <a:endParaRPr sz="1513"/>
            </a:p>
          </p:txBody>
        </p:sp>
        <p:sp>
          <p:nvSpPr>
            <p:cNvPr id="69" name="Google Shape;69;p14"/>
            <p:cNvSpPr/>
            <p:nvPr/>
          </p:nvSpPr>
          <p:spPr>
            <a:xfrm>
              <a:off x="2311950" y="4228925"/>
              <a:ext cx="279300" cy="312000"/>
            </a:xfrm>
            <a:prstGeom prst="ellipse">
              <a:avLst/>
            </a:prstGeom>
            <a:noFill/>
            <a:ln w="10300" cap="flat" cmpd="sng">
              <a:solidFill>
                <a:schemeClr val="dk1"/>
              </a:solidFill>
              <a:prstDash val="solid"/>
              <a:round/>
              <a:headEnd type="none" w="sm" len="sm"/>
              <a:tailEnd type="none" w="sm" len="sm"/>
            </a:ln>
          </p:spPr>
          <p:txBody>
            <a:bodyPr spcFirstLastPara="1" wrap="square" lIns="98800" tIns="98800" rIns="98800" bIns="98800" anchor="ctr" anchorCtr="0">
              <a:noAutofit/>
            </a:bodyPr>
            <a:lstStyle/>
            <a:p>
              <a:pPr marL="0" lvl="0" indent="0" algn="ctr" rtl="0">
                <a:spcBef>
                  <a:spcPts val="0"/>
                </a:spcBef>
                <a:spcAft>
                  <a:spcPts val="0"/>
                </a:spcAft>
                <a:buNone/>
              </a:pPr>
              <a:endParaRPr sz="1513"/>
            </a:p>
          </p:txBody>
        </p:sp>
      </p:grpSp>
      <p:sp>
        <p:nvSpPr>
          <p:cNvPr id="70" name="Google Shape;70;p14"/>
          <p:cNvSpPr/>
          <p:nvPr/>
        </p:nvSpPr>
        <p:spPr>
          <a:xfrm>
            <a:off x="5048250" y="863600"/>
            <a:ext cx="3625800" cy="438300"/>
          </a:xfrm>
          <a:prstGeom prst="roundRect">
            <a:avLst>
              <a:gd name="adj" fmla="val 16667"/>
            </a:avLst>
          </a:prstGeom>
          <a:solidFill>
            <a:srgbClr val="465A8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What stands out?</a:t>
            </a:r>
            <a:endParaRPr>
              <a:solidFill>
                <a:schemeClr val="accent6"/>
              </a:solidFill>
            </a:endParaRPr>
          </a:p>
        </p:txBody>
      </p:sp>
      <p:sp>
        <p:nvSpPr>
          <p:cNvPr id="71" name="Google Shape;71;p14"/>
          <p:cNvSpPr/>
          <p:nvPr/>
        </p:nvSpPr>
        <p:spPr>
          <a:xfrm>
            <a:off x="5074550" y="3854500"/>
            <a:ext cx="3625800" cy="806100"/>
          </a:xfrm>
          <a:prstGeom prst="wedgeRoundRectCallout">
            <a:avLst>
              <a:gd name="adj1" fmla="val -80583"/>
              <a:gd name="adj2" fmla="val -71951"/>
              <a:gd name="adj3" fmla="val 0"/>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700" i="1"/>
              <a:t>“Bayangkan sebuah tangga dengan anak tangga yang diberi nomor dari 0 di bagian bawah hingga 10 di bagian paling atas. Bagian atas tangga (10) mewakili kehidupan terbaik yang mungkin bagi Anda, dan bagian bawah tangga (0) mewakili kehidupan terburuk yang mungkin bagi Anda. Di anak tangga nomor berapa Anda merasa diri Anda berdiri saat ini?” </a:t>
            </a:r>
            <a:endParaRPr sz="700" i="1"/>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5"/>
          <p:cNvPicPr preferRelativeResize="0"/>
          <p:nvPr/>
        </p:nvPicPr>
        <p:blipFill>
          <a:blip r:embed="rId3">
            <a:alphaModFix/>
          </a:blip>
          <a:stretch>
            <a:fillRect/>
          </a:stretch>
        </p:blipFill>
        <p:spPr>
          <a:xfrm>
            <a:off x="1734650" y="2439325"/>
            <a:ext cx="5674700" cy="2232740"/>
          </a:xfrm>
          <a:prstGeom prst="rect">
            <a:avLst/>
          </a:prstGeom>
          <a:noFill/>
          <a:ln>
            <a:noFill/>
          </a:ln>
        </p:spPr>
      </p:pic>
      <p:grpSp>
        <p:nvGrpSpPr>
          <p:cNvPr id="77" name="Google Shape;77;p15"/>
          <p:cNvGrpSpPr/>
          <p:nvPr/>
        </p:nvGrpSpPr>
        <p:grpSpPr>
          <a:xfrm>
            <a:off x="253925" y="853400"/>
            <a:ext cx="3493351" cy="1351850"/>
            <a:chOff x="330725" y="828400"/>
            <a:chExt cx="3493351" cy="1351850"/>
          </a:xfrm>
        </p:grpSpPr>
        <p:pic>
          <p:nvPicPr>
            <p:cNvPr id="78" name="Google Shape;78;p15"/>
            <p:cNvPicPr preferRelativeResize="0"/>
            <p:nvPr/>
          </p:nvPicPr>
          <p:blipFill>
            <a:blip r:embed="rId4">
              <a:alphaModFix/>
            </a:blip>
            <a:stretch>
              <a:fillRect/>
            </a:stretch>
          </p:blipFill>
          <p:spPr>
            <a:xfrm>
              <a:off x="330725" y="828400"/>
              <a:ext cx="3493351" cy="1351850"/>
            </a:xfrm>
            <a:prstGeom prst="rect">
              <a:avLst/>
            </a:prstGeom>
            <a:noFill/>
            <a:ln>
              <a:noFill/>
            </a:ln>
          </p:spPr>
        </p:pic>
        <p:sp>
          <p:nvSpPr>
            <p:cNvPr id="79" name="Google Shape;79;p15"/>
            <p:cNvSpPr/>
            <p:nvPr/>
          </p:nvSpPr>
          <p:spPr>
            <a:xfrm>
              <a:off x="565475" y="992525"/>
              <a:ext cx="3218700" cy="328500"/>
            </a:xfrm>
            <a:prstGeom prst="rect">
              <a:avLst/>
            </a:prstGeom>
            <a:noFill/>
            <a:ln w="952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80" name="Google Shape;80;p15"/>
          <p:cNvSpPr txBox="1">
            <a:spLocks noGrp="1"/>
          </p:cNvSpPr>
          <p:nvPr>
            <p:ph type="title"/>
          </p:nvPr>
        </p:nvSpPr>
        <p:spPr>
          <a:xfrm>
            <a:off x="253925" y="255700"/>
            <a:ext cx="8609100" cy="572700"/>
          </a:xfrm>
          <a:prstGeom prst="rect">
            <a:avLst/>
          </a:prstGeom>
        </p:spPr>
        <p:txBody>
          <a:bodyPr spcFirstLastPara="1" wrap="square" lIns="91425" tIns="91425" rIns="91425" bIns="91425" anchor="t" anchorCtr="0">
            <a:normAutofit fontScale="90000"/>
          </a:bodyPr>
          <a:lstStyle/>
          <a:p>
            <a:pPr marL="0" marR="0" lvl="0" indent="0" algn="l" rtl="0">
              <a:lnSpc>
                <a:spcPct val="115000"/>
              </a:lnSpc>
              <a:spcBef>
                <a:spcPts val="0"/>
              </a:spcBef>
              <a:spcAft>
                <a:spcPts val="1200"/>
              </a:spcAft>
              <a:buNone/>
            </a:pPr>
            <a:r>
              <a:rPr lang="en" sz="2000" b="1">
                <a:solidFill>
                  <a:srgbClr val="1C4587"/>
                </a:solidFill>
              </a:rPr>
              <a:t>Eksplorasi Faktor-faktor Berasosiasi</a:t>
            </a:r>
            <a:endParaRPr sz="2000" b="1">
              <a:solidFill>
                <a:srgbClr val="1C4587"/>
              </a:solidFill>
            </a:endParaRPr>
          </a:p>
        </p:txBody>
      </p:sp>
      <p:sp>
        <p:nvSpPr>
          <p:cNvPr id="81" name="Google Shape;81;p15"/>
          <p:cNvSpPr txBox="1">
            <a:spLocks noGrp="1"/>
          </p:cNvSpPr>
          <p:nvPr>
            <p:ph type="body" idx="1"/>
          </p:nvPr>
        </p:nvSpPr>
        <p:spPr>
          <a:xfrm>
            <a:off x="4040725" y="1382463"/>
            <a:ext cx="4822200" cy="941100"/>
          </a:xfrm>
          <a:prstGeom prst="rect">
            <a:avLst/>
          </a:prstGeom>
          <a:ln>
            <a:noFill/>
          </a:ln>
        </p:spPr>
        <p:txBody>
          <a:bodyPr spcFirstLastPara="1" wrap="square" lIns="91425" tIns="91425" rIns="91425" bIns="91425" anchor="t" anchorCtr="0">
            <a:normAutofit/>
          </a:bodyPr>
          <a:lstStyle/>
          <a:p>
            <a:pPr marL="457200" marR="0" lvl="0" indent="-317500" algn="l" rtl="0">
              <a:lnSpc>
                <a:spcPct val="95000"/>
              </a:lnSpc>
              <a:spcBef>
                <a:spcPts val="0"/>
              </a:spcBef>
              <a:spcAft>
                <a:spcPts val="0"/>
              </a:spcAft>
              <a:buClr>
                <a:schemeClr val="dk1"/>
              </a:buClr>
              <a:buSzPts val="1400"/>
              <a:buAutoNum type="arabicPeriod"/>
            </a:pPr>
            <a:r>
              <a:rPr lang="en" sz="1400">
                <a:solidFill>
                  <a:schemeClr val="dk1"/>
                </a:solidFill>
              </a:rPr>
              <a:t>Freedom to make life choices (r = 0.9), posisi ke-24</a:t>
            </a:r>
            <a:endParaRPr sz="1400">
              <a:solidFill>
                <a:schemeClr val="dk1"/>
              </a:solidFill>
            </a:endParaRPr>
          </a:p>
          <a:p>
            <a:pPr marL="457200" marR="0" lvl="0" indent="-317500" algn="l" rtl="0">
              <a:lnSpc>
                <a:spcPct val="95000"/>
              </a:lnSpc>
              <a:spcBef>
                <a:spcPts val="0"/>
              </a:spcBef>
              <a:spcAft>
                <a:spcPts val="0"/>
              </a:spcAft>
              <a:buClr>
                <a:schemeClr val="dk1"/>
              </a:buClr>
              <a:buSzPts val="1400"/>
              <a:buAutoNum type="arabicPeriod"/>
            </a:pPr>
            <a:r>
              <a:rPr lang="en" sz="1400">
                <a:solidFill>
                  <a:schemeClr val="dk1"/>
                </a:solidFill>
              </a:rPr>
              <a:t>Generosity posisi ke-1</a:t>
            </a:r>
            <a:br>
              <a:rPr lang="en" sz="1400">
                <a:solidFill>
                  <a:schemeClr val="dk1"/>
                </a:solidFill>
              </a:rPr>
            </a:br>
            <a:endParaRPr sz="1400">
              <a:solidFill>
                <a:schemeClr val="dk1"/>
              </a:solidFill>
            </a:endParaRPr>
          </a:p>
        </p:txBody>
      </p:sp>
      <p:sp>
        <p:nvSpPr>
          <p:cNvPr id="82" name="Google Shape;82;p15"/>
          <p:cNvSpPr/>
          <p:nvPr/>
        </p:nvSpPr>
        <p:spPr>
          <a:xfrm>
            <a:off x="7492225" y="2650450"/>
            <a:ext cx="1427400" cy="1589400"/>
          </a:xfrm>
          <a:prstGeom prst="wedgeRoundRectCallout">
            <a:avLst>
              <a:gd name="adj1" fmla="val -80923"/>
              <a:gd name="adj2" fmla="val -29665"/>
              <a:gd name="adj3" fmla="val 0"/>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i="1"/>
              <a:t>"Apakah Anda mendonasikan uang untuk amal dalam sebulan terakhir?" </a:t>
            </a:r>
            <a:endParaRPr sz="1000" i="1"/>
          </a:p>
        </p:txBody>
      </p:sp>
      <p:sp>
        <p:nvSpPr>
          <p:cNvPr id="83" name="Google Shape;83;p15"/>
          <p:cNvSpPr/>
          <p:nvPr/>
        </p:nvSpPr>
        <p:spPr>
          <a:xfrm>
            <a:off x="253925" y="2650450"/>
            <a:ext cx="1349100" cy="1589400"/>
          </a:xfrm>
          <a:prstGeom prst="wedgeRoundRectCallout">
            <a:avLst>
              <a:gd name="adj1" fmla="val 93129"/>
              <a:gd name="adj2" fmla="val -31858"/>
              <a:gd name="adj3" fmla="val 0"/>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i="1"/>
              <a:t>“Apakah Anda merasa puas atau tidak puas dengan kebebasan Anda untuk memilih apa yang akan Anda lakukan dengan hidup Anda?”</a:t>
            </a:r>
            <a:endParaRPr sz="1000" i="1"/>
          </a:p>
        </p:txBody>
      </p:sp>
      <p:sp>
        <p:nvSpPr>
          <p:cNvPr id="84" name="Google Shape;84;p15"/>
          <p:cNvSpPr/>
          <p:nvPr/>
        </p:nvSpPr>
        <p:spPr>
          <a:xfrm>
            <a:off x="4040725" y="828400"/>
            <a:ext cx="4822200" cy="438300"/>
          </a:xfrm>
          <a:prstGeom prst="roundRect">
            <a:avLst>
              <a:gd name="adj" fmla="val 16667"/>
            </a:avLst>
          </a:prstGeom>
          <a:solidFill>
            <a:srgbClr val="465A8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What stands out?</a:t>
            </a:r>
            <a:endParaRPr>
              <a:solidFill>
                <a:schemeClr val="accent6"/>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6"/>
          <p:cNvSpPr txBox="1">
            <a:spLocks noGrp="1"/>
          </p:cNvSpPr>
          <p:nvPr>
            <p:ph type="title"/>
          </p:nvPr>
        </p:nvSpPr>
        <p:spPr>
          <a:xfrm>
            <a:off x="311700" y="255700"/>
            <a:ext cx="8353800" cy="572700"/>
          </a:xfrm>
          <a:prstGeom prst="rect">
            <a:avLst/>
          </a:prstGeom>
        </p:spPr>
        <p:txBody>
          <a:bodyPr spcFirstLastPara="1" wrap="square" lIns="91425" tIns="91425" rIns="91425" bIns="91425" anchor="t" anchorCtr="0">
            <a:normAutofit fontScale="90000"/>
          </a:bodyPr>
          <a:lstStyle/>
          <a:p>
            <a:pPr marL="0" marR="0" lvl="0" indent="0" algn="l" rtl="0">
              <a:lnSpc>
                <a:spcPct val="115000"/>
              </a:lnSpc>
              <a:spcBef>
                <a:spcPts val="0"/>
              </a:spcBef>
              <a:spcAft>
                <a:spcPts val="1200"/>
              </a:spcAft>
              <a:buNone/>
            </a:pPr>
            <a:r>
              <a:rPr lang="en" sz="2000" b="1">
                <a:solidFill>
                  <a:srgbClr val="1C4587"/>
                </a:solidFill>
              </a:rPr>
              <a:t>Perbandingan Skor Indonesia dan Negara ASEAN</a:t>
            </a:r>
            <a:endParaRPr sz="2000" b="1">
              <a:solidFill>
                <a:srgbClr val="1C4587"/>
              </a:solidFill>
            </a:endParaRPr>
          </a:p>
        </p:txBody>
      </p:sp>
      <p:pic>
        <p:nvPicPr>
          <p:cNvPr id="90" name="Google Shape;90;p16"/>
          <p:cNvPicPr preferRelativeResize="0"/>
          <p:nvPr/>
        </p:nvPicPr>
        <p:blipFill rotWithShape="1">
          <a:blip r:embed="rId3">
            <a:alphaModFix/>
          </a:blip>
          <a:srcRect r="18858"/>
          <a:stretch/>
        </p:blipFill>
        <p:spPr>
          <a:xfrm>
            <a:off x="311700" y="1076575"/>
            <a:ext cx="4909950" cy="3727426"/>
          </a:xfrm>
          <a:prstGeom prst="rect">
            <a:avLst/>
          </a:prstGeom>
          <a:noFill/>
          <a:ln>
            <a:noFill/>
          </a:ln>
        </p:spPr>
      </p:pic>
      <p:pic>
        <p:nvPicPr>
          <p:cNvPr id="91" name="Google Shape;91;p16"/>
          <p:cNvPicPr preferRelativeResize="0"/>
          <p:nvPr/>
        </p:nvPicPr>
        <p:blipFill rotWithShape="1">
          <a:blip r:embed="rId3">
            <a:alphaModFix/>
          </a:blip>
          <a:srcRect l="80874" t="7767" b="63058"/>
          <a:stretch/>
        </p:blipFill>
        <p:spPr>
          <a:xfrm>
            <a:off x="3868125" y="3133575"/>
            <a:ext cx="919549" cy="864075"/>
          </a:xfrm>
          <a:prstGeom prst="rect">
            <a:avLst/>
          </a:prstGeom>
          <a:noFill/>
          <a:ln>
            <a:noFill/>
          </a:ln>
        </p:spPr>
      </p:pic>
      <p:sp>
        <p:nvSpPr>
          <p:cNvPr id="92" name="Google Shape;92;p16"/>
          <p:cNvSpPr txBox="1">
            <a:spLocks noGrp="1"/>
          </p:cNvSpPr>
          <p:nvPr>
            <p:ph type="body" idx="1"/>
          </p:nvPr>
        </p:nvSpPr>
        <p:spPr>
          <a:xfrm>
            <a:off x="5364550" y="1630654"/>
            <a:ext cx="3498600" cy="2080500"/>
          </a:xfrm>
          <a:prstGeom prst="rect">
            <a:avLst/>
          </a:prstGeom>
          <a:ln>
            <a:noFill/>
          </a:ln>
        </p:spPr>
        <p:txBody>
          <a:bodyPr spcFirstLastPara="1" wrap="square" lIns="91425" tIns="91425" rIns="91425" bIns="91425" anchor="t" anchorCtr="0">
            <a:normAutofit/>
          </a:bodyPr>
          <a:lstStyle/>
          <a:p>
            <a:pPr marL="457200" marR="0" lvl="0" indent="-317500" algn="l" rtl="0">
              <a:lnSpc>
                <a:spcPct val="150000"/>
              </a:lnSpc>
              <a:spcBef>
                <a:spcPts val="0"/>
              </a:spcBef>
              <a:spcAft>
                <a:spcPts val="0"/>
              </a:spcAft>
              <a:buClr>
                <a:schemeClr val="dk1"/>
              </a:buClr>
              <a:buSzPts val="1400"/>
              <a:buChar char="●"/>
            </a:pPr>
            <a:r>
              <a:rPr lang="en" sz="1400">
                <a:solidFill>
                  <a:schemeClr val="dk1"/>
                </a:solidFill>
              </a:rPr>
              <a:t>Posisi ke-6 dari 9</a:t>
            </a:r>
            <a:endParaRPr sz="1400">
              <a:solidFill>
                <a:schemeClr val="dk1"/>
              </a:solidFill>
            </a:endParaRPr>
          </a:p>
          <a:p>
            <a:pPr marL="457200" marR="0" lvl="0" indent="-317500" algn="l" rtl="0">
              <a:lnSpc>
                <a:spcPct val="150000"/>
              </a:lnSpc>
              <a:spcBef>
                <a:spcPts val="0"/>
              </a:spcBef>
              <a:spcAft>
                <a:spcPts val="0"/>
              </a:spcAft>
              <a:buClr>
                <a:schemeClr val="dk1"/>
              </a:buClr>
              <a:buSzPts val="1400"/>
              <a:buChar char="●"/>
            </a:pPr>
            <a:r>
              <a:rPr lang="en" sz="1400">
                <a:solidFill>
                  <a:schemeClr val="dk1"/>
                </a:solidFill>
              </a:rPr>
              <a:t>Relatif stagnan</a:t>
            </a:r>
            <a:endParaRPr sz="1400" i="1">
              <a:solidFill>
                <a:schemeClr val="dk1"/>
              </a:solidFill>
            </a:endParaRPr>
          </a:p>
          <a:p>
            <a:pPr marL="457200" marR="0" lvl="0" indent="-317500" algn="l" rtl="0">
              <a:lnSpc>
                <a:spcPct val="150000"/>
              </a:lnSpc>
              <a:spcBef>
                <a:spcPts val="0"/>
              </a:spcBef>
              <a:spcAft>
                <a:spcPts val="0"/>
              </a:spcAft>
              <a:buClr>
                <a:schemeClr val="dk1"/>
              </a:buClr>
              <a:buSzPts val="1400"/>
              <a:buChar char="●"/>
            </a:pPr>
            <a:r>
              <a:rPr lang="en" sz="1400">
                <a:solidFill>
                  <a:schemeClr val="dk1"/>
                </a:solidFill>
              </a:rPr>
              <a:t>Skor Indonesia naik, skor ASEAN juga naik</a:t>
            </a:r>
            <a:endParaRPr sz="1400">
              <a:solidFill>
                <a:schemeClr val="dk1"/>
              </a:solidFill>
            </a:endParaRPr>
          </a:p>
        </p:txBody>
      </p:sp>
      <p:sp>
        <p:nvSpPr>
          <p:cNvPr id="93" name="Google Shape;93;p16"/>
          <p:cNvSpPr/>
          <p:nvPr/>
        </p:nvSpPr>
        <p:spPr>
          <a:xfrm>
            <a:off x="5364550" y="1076575"/>
            <a:ext cx="3498600" cy="438300"/>
          </a:xfrm>
          <a:prstGeom prst="roundRect">
            <a:avLst>
              <a:gd name="adj" fmla="val 16667"/>
            </a:avLst>
          </a:prstGeom>
          <a:solidFill>
            <a:srgbClr val="465A8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What stands out?</a:t>
            </a:r>
            <a:endParaRPr>
              <a:solidFill>
                <a:schemeClr val="accent6"/>
              </a:solidFill>
            </a:endParaRPr>
          </a:p>
        </p:txBody>
      </p:sp>
      <p:sp>
        <p:nvSpPr>
          <p:cNvPr id="94" name="Google Shape;94;p16"/>
          <p:cNvSpPr/>
          <p:nvPr/>
        </p:nvSpPr>
        <p:spPr>
          <a:xfrm>
            <a:off x="4736763" y="2504363"/>
            <a:ext cx="170725" cy="134775"/>
          </a:xfrm>
          <a:prstGeom prst="flowChartMerg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7"/>
          <p:cNvSpPr txBox="1">
            <a:spLocks noGrp="1"/>
          </p:cNvSpPr>
          <p:nvPr>
            <p:ph type="title"/>
          </p:nvPr>
        </p:nvSpPr>
        <p:spPr>
          <a:xfrm>
            <a:off x="311700" y="255700"/>
            <a:ext cx="8353800" cy="572700"/>
          </a:xfrm>
          <a:prstGeom prst="rect">
            <a:avLst/>
          </a:prstGeom>
        </p:spPr>
        <p:txBody>
          <a:bodyPr spcFirstLastPara="1" wrap="square" lIns="91425" tIns="91425" rIns="91425" bIns="91425" anchor="t" anchorCtr="0">
            <a:normAutofit fontScale="90000"/>
          </a:bodyPr>
          <a:lstStyle/>
          <a:p>
            <a:pPr marL="0" marR="0" lvl="0" indent="0" algn="l" rtl="0">
              <a:lnSpc>
                <a:spcPct val="115000"/>
              </a:lnSpc>
              <a:spcBef>
                <a:spcPts val="0"/>
              </a:spcBef>
              <a:spcAft>
                <a:spcPts val="1200"/>
              </a:spcAft>
              <a:buNone/>
            </a:pPr>
            <a:r>
              <a:rPr lang="en" sz="2000" b="1">
                <a:solidFill>
                  <a:srgbClr val="1C4587"/>
                </a:solidFill>
              </a:rPr>
              <a:t>Perbandingan Skor Indonesia dan Negara dengan GDP Setara</a:t>
            </a:r>
            <a:endParaRPr sz="2000" b="1">
              <a:solidFill>
                <a:srgbClr val="1C4587"/>
              </a:solidFill>
            </a:endParaRPr>
          </a:p>
        </p:txBody>
      </p:sp>
      <p:sp>
        <p:nvSpPr>
          <p:cNvPr id="100" name="Google Shape;100;p17"/>
          <p:cNvSpPr/>
          <p:nvPr/>
        </p:nvSpPr>
        <p:spPr>
          <a:xfrm>
            <a:off x="5113800" y="890950"/>
            <a:ext cx="3641400" cy="438300"/>
          </a:xfrm>
          <a:prstGeom prst="roundRect">
            <a:avLst>
              <a:gd name="adj" fmla="val 16667"/>
            </a:avLst>
          </a:prstGeom>
          <a:solidFill>
            <a:srgbClr val="465A8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accent6"/>
                </a:solidFill>
              </a:rPr>
              <a:t>What stands out?</a:t>
            </a:r>
            <a:endParaRPr>
              <a:solidFill>
                <a:schemeClr val="accent6"/>
              </a:solidFill>
            </a:endParaRPr>
          </a:p>
        </p:txBody>
      </p:sp>
      <p:pic>
        <p:nvPicPr>
          <p:cNvPr id="101" name="Google Shape;101;p17"/>
          <p:cNvPicPr preferRelativeResize="0"/>
          <p:nvPr/>
        </p:nvPicPr>
        <p:blipFill rotWithShape="1">
          <a:blip r:embed="rId3">
            <a:alphaModFix/>
          </a:blip>
          <a:srcRect r="23236"/>
          <a:stretch/>
        </p:blipFill>
        <p:spPr>
          <a:xfrm>
            <a:off x="311700" y="890950"/>
            <a:ext cx="4457350" cy="3961774"/>
          </a:xfrm>
          <a:prstGeom prst="rect">
            <a:avLst/>
          </a:prstGeom>
          <a:noFill/>
          <a:ln>
            <a:noFill/>
          </a:ln>
        </p:spPr>
      </p:pic>
      <p:pic>
        <p:nvPicPr>
          <p:cNvPr id="102" name="Google Shape;102;p17"/>
          <p:cNvPicPr preferRelativeResize="0"/>
          <p:nvPr/>
        </p:nvPicPr>
        <p:blipFill rotWithShape="1">
          <a:blip r:embed="rId3">
            <a:alphaModFix/>
          </a:blip>
          <a:srcRect l="77320" t="6934" b="70566"/>
          <a:stretch/>
        </p:blipFill>
        <p:spPr>
          <a:xfrm>
            <a:off x="3405625" y="3216950"/>
            <a:ext cx="1115125" cy="754800"/>
          </a:xfrm>
          <a:prstGeom prst="rect">
            <a:avLst/>
          </a:prstGeom>
          <a:noFill/>
          <a:ln>
            <a:noFill/>
          </a:ln>
        </p:spPr>
      </p:pic>
      <p:sp>
        <p:nvSpPr>
          <p:cNvPr id="103" name="Google Shape;103;p17"/>
          <p:cNvSpPr/>
          <p:nvPr/>
        </p:nvSpPr>
        <p:spPr>
          <a:xfrm rot="10800000">
            <a:off x="4403238" y="2341200"/>
            <a:ext cx="170725" cy="134775"/>
          </a:xfrm>
          <a:prstGeom prst="flowChartMerg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4" name="Google Shape;104;p17"/>
          <p:cNvSpPr txBox="1">
            <a:spLocks noGrp="1"/>
          </p:cNvSpPr>
          <p:nvPr>
            <p:ph type="body" idx="1"/>
          </p:nvPr>
        </p:nvSpPr>
        <p:spPr>
          <a:xfrm>
            <a:off x="5113800" y="1400105"/>
            <a:ext cx="3498600" cy="2454900"/>
          </a:xfrm>
          <a:prstGeom prst="rect">
            <a:avLst/>
          </a:prstGeom>
          <a:ln>
            <a:noFill/>
          </a:ln>
        </p:spPr>
        <p:txBody>
          <a:bodyPr spcFirstLastPara="1" wrap="square" lIns="91425" tIns="91425" rIns="91425" bIns="91425" anchor="t" anchorCtr="0">
            <a:normAutofit/>
          </a:bodyPr>
          <a:lstStyle/>
          <a:p>
            <a:pPr marL="457200" marR="0" lvl="0" indent="-317500" algn="l" rtl="0">
              <a:lnSpc>
                <a:spcPct val="150000"/>
              </a:lnSpc>
              <a:spcBef>
                <a:spcPts val="0"/>
              </a:spcBef>
              <a:spcAft>
                <a:spcPts val="0"/>
              </a:spcAft>
              <a:buClr>
                <a:schemeClr val="dk1"/>
              </a:buClr>
              <a:buSzPts val="1400"/>
              <a:buChar char="●"/>
            </a:pPr>
            <a:r>
              <a:rPr lang="en" sz="1400">
                <a:solidFill>
                  <a:schemeClr val="dk1"/>
                </a:solidFill>
              </a:rPr>
              <a:t>Posisi tengah</a:t>
            </a:r>
            <a:endParaRPr sz="1400">
              <a:solidFill>
                <a:schemeClr val="dk1"/>
              </a:solidFill>
            </a:endParaRPr>
          </a:p>
          <a:p>
            <a:pPr marL="457200" marR="0" lvl="0" indent="-317500" algn="l" rtl="0">
              <a:lnSpc>
                <a:spcPct val="150000"/>
              </a:lnSpc>
              <a:spcBef>
                <a:spcPts val="0"/>
              </a:spcBef>
              <a:spcAft>
                <a:spcPts val="0"/>
              </a:spcAft>
              <a:buClr>
                <a:schemeClr val="dk1"/>
              </a:buClr>
              <a:buSzPts val="1400"/>
              <a:buChar char="●"/>
            </a:pPr>
            <a:r>
              <a:rPr lang="en" sz="1400" i="1">
                <a:solidFill>
                  <a:schemeClr val="dk1"/>
                </a:solidFill>
              </a:rPr>
              <a:t>Tren: Relatif Stabil Naik</a:t>
            </a:r>
            <a:endParaRPr sz="1400">
              <a:solidFill>
                <a:schemeClr val="dk1"/>
              </a:solidFill>
            </a:endParaRPr>
          </a:p>
          <a:p>
            <a:pPr marL="457200" marR="0" lvl="0" indent="0" algn="l" rtl="0">
              <a:lnSpc>
                <a:spcPct val="150000"/>
              </a:lnSpc>
              <a:spcBef>
                <a:spcPts val="1200"/>
              </a:spcBef>
              <a:spcAft>
                <a:spcPts val="1200"/>
              </a:spcAft>
              <a:buNone/>
            </a:pPr>
            <a:endParaRPr sz="14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8"/>
          <p:cNvSpPr/>
          <p:nvPr/>
        </p:nvSpPr>
        <p:spPr>
          <a:xfrm>
            <a:off x="311525" y="252975"/>
            <a:ext cx="8353800" cy="438300"/>
          </a:xfrm>
          <a:prstGeom prst="roundRect">
            <a:avLst>
              <a:gd name="adj" fmla="val 16667"/>
            </a:avLst>
          </a:prstGeom>
          <a:solidFill>
            <a:srgbClr val="465A8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accent6"/>
                </a:solidFill>
              </a:rPr>
              <a:t>Perbandingan dengan Data Lain</a:t>
            </a:r>
            <a:endParaRPr sz="2000" b="1">
              <a:solidFill>
                <a:schemeClr val="accent6"/>
              </a:solidFill>
            </a:endParaRPr>
          </a:p>
        </p:txBody>
      </p:sp>
      <p:sp>
        <p:nvSpPr>
          <p:cNvPr id="110" name="Google Shape;110;p18"/>
          <p:cNvSpPr txBox="1">
            <a:spLocks noGrp="1"/>
          </p:cNvSpPr>
          <p:nvPr>
            <p:ph type="body" idx="1"/>
          </p:nvPr>
        </p:nvSpPr>
        <p:spPr>
          <a:xfrm>
            <a:off x="311525" y="1521350"/>
            <a:ext cx="3046800" cy="3028200"/>
          </a:xfrm>
          <a:prstGeom prst="rect">
            <a:avLst/>
          </a:prstGeom>
          <a:ln>
            <a:noFill/>
          </a:ln>
        </p:spPr>
        <p:txBody>
          <a:bodyPr spcFirstLastPara="1" wrap="square" lIns="91425" tIns="91425" rIns="91425" bIns="91425" anchor="t" anchorCtr="0">
            <a:normAutofit/>
          </a:bodyPr>
          <a:lstStyle/>
          <a:p>
            <a:pPr marL="457200" lvl="0" indent="-330200" algn="l" rtl="0">
              <a:spcBef>
                <a:spcPts val="0"/>
              </a:spcBef>
              <a:spcAft>
                <a:spcPts val="0"/>
              </a:spcAft>
              <a:buClr>
                <a:schemeClr val="dk1"/>
              </a:buClr>
              <a:buSzPts val="1600"/>
              <a:buChar char="●"/>
            </a:pPr>
            <a:r>
              <a:rPr lang="en" sz="1600" dirty="0">
                <a:solidFill>
                  <a:schemeClr val="dk1"/>
                </a:solidFill>
              </a:rPr>
              <a:t>Peningkatan Kebahagiaan Subjektif mengejar rata-rata global</a:t>
            </a:r>
            <a:endParaRPr sz="1600" dirty="0">
              <a:solidFill>
                <a:schemeClr val="dk1"/>
              </a:solidFill>
            </a:endParaRPr>
          </a:p>
          <a:p>
            <a:pPr marL="457200" lvl="0" indent="-330200" algn="l" rtl="0">
              <a:spcBef>
                <a:spcPts val="0"/>
              </a:spcBef>
              <a:spcAft>
                <a:spcPts val="0"/>
              </a:spcAft>
              <a:buClr>
                <a:schemeClr val="dk1"/>
              </a:buClr>
              <a:buSzPts val="1600"/>
              <a:buChar char="●"/>
            </a:pPr>
            <a:r>
              <a:rPr lang="en" sz="1600" dirty="0">
                <a:solidFill>
                  <a:schemeClr val="dk1"/>
                </a:solidFill>
              </a:rPr>
              <a:t>Posisi Indonesia cukup di tengah, di antara negara dengan GDP setara</a:t>
            </a:r>
            <a:endParaRPr sz="1600" dirty="0">
              <a:solidFill>
                <a:schemeClr val="dk1"/>
              </a:solidFill>
            </a:endParaRPr>
          </a:p>
          <a:p>
            <a:pPr marL="457200" lvl="0" indent="-330200" algn="l" rtl="0">
              <a:spcBef>
                <a:spcPts val="0"/>
              </a:spcBef>
              <a:spcAft>
                <a:spcPts val="0"/>
              </a:spcAft>
              <a:buClr>
                <a:schemeClr val="dk1"/>
              </a:buClr>
              <a:buSzPts val="1600"/>
              <a:buChar char="●"/>
            </a:pPr>
            <a:r>
              <a:rPr lang="en" sz="1600" dirty="0">
                <a:solidFill>
                  <a:schemeClr val="dk1"/>
                </a:solidFill>
              </a:rPr>
              <a:t>Pentingnya Rasa Otonomi</a:t>
            </a:r>
            <a:endParaRPr sz="1500" dirty="0">
              <a:solidFill>
                <a:schemeClr val="dk1"/>
              </a:solidFill>
            </a:endParaRPr>
          </a:p>
          <a:p>
            <a:pPr marL="457200" lvl="0" indent="-323850" algn="l" rtl="0">
              <a:spcBef>
                <a:spcPts val="0"/>
              </a:spcBef>
              <a:spcAft>
                <a:spcPts val="0"/>
              </a:spcAft>
              <a:buClr>
                <a:schemeClr val="dk1"/>
              </a:buClr>
              <a:buSzPts val="1500"/>
              <a:buChar char="●"/>
            </a:pPr>
            <a:r>
              <a:rPr lang="en" sz="1600" dirty="0">
                <a:solidFill>
                  <a:schemeClr val="dk1"/>
                </a:solidFill>
              </a:rPr>
              <a:t>Kedermawanan Indonesia tertinggi dunia.</a:t>
            </a:r>
            <a:endParaRPr sz="1500" dirty="0">
              <a:solidFill>
                <a:schemeClr val="dk1"/>
              </a:solidFill>
            </a:endParaRPr>
          </a:p>
        </p:txBody>
      </p:sp>
      <p:pic>
        <p:nvPicPr>
          <p:cNvPr id="111" name="Google Shape;111;p18"/>
          <p:cNvPicPr preferRelativeResize="0"/>
          <p:nvPr/>
        </p:nvPicPr>
        <p:blipFill>
          <a:blip r:embed="rId3">
            <a:alphaModFix/>
          </a:blip>
          <a:stretch>
            <a:fillRect/>
          </a:stretch>
        </p:blipFill>
        <p:spPr>
          <a:xfrm>
            <a:off x="311525" y="837613"/>
            <a:ext cx="1074799" cy="537400"/>
          </a:xfrm>
          <a:prstGeom prst="rect">
            <a:avLst/>
          </a:prstGeom>
          <a:noFill/>
          <a:ln>
            <a:noFill/>
          </a:ln>
        </p:spPr>
      </p:pic>
      <p:pic>
        <p:nvPicPr>
          <p:cNvPr id="112" name="Google Shape;112;p18"/>
          <p:cNvPicPr preferRelativeResize="0"/>
          <p:nvPr/>
        </p:nvPicPr>
        <p:blipFill>
          <a:blip r:embed="rId4">
            <a:alphaModFix/>
          </a:blip>
          <a:stretch>
            <a:fillRect/>
          </a:stretch>
        </p:blipFill>
        <p:spPr>
          <a:xfrm>
            <a:off x="3738283" y="893476"/>
            <a:ext cx="1640542" cy="1991123"/>
          </a:xfrm>
          <a:prstGeom prst="rect">
            <a:avLst/>
          </a:prstGeom>
          <a:noFill/>
          <a:ln>
            <a:noFill/>
          </a:ln>
        </p:spPr>
      </p:pic>
      <p:sp>
        <p:nvSpPr>
          <p:cNvPr id="113" name="Google Shape;113;p18"/>
          <p:cNvSpPr txBox="1">
            <a:spLocks noGrp="1"/>
          </p:cNvSpPr>
          <p:nvPr>
            <p:ph type="body" idx="1"/>
          </p:nvPr>
        </p:nvSpPr>
        <p:spPr>
          <a:xfrm>
            <a:off x="3499677" y="3086800"/>
            <a:ext cx="5156340" cy="1253700"/>
          </a:xfrm>
          <a:prstGeom prst="rect">
            <a:avLst/>
          </a:prstGeom>
          <a:ln>
            <a:noFill/>
          </a:ln>
        </p:spPr>
        <p:txBody>
          <a:bodyPr spcFirstLastPara="1" wrap="square" lIns="91425" tIns="91425" rIns="91425" bIns="91425" anchor="t" anchorCtr="0">
            <a:normAutofit lnSpcReduction="10000"/>
          </a:bodyPr>
          <a:lstStyle/>
          <a:p>
            <a:pPr marL="457200" lvl="0" indent="-323850" algn="l" rtl="0">
              <a:spcBef>
                <a:spcPts val="0"/>
              </a:spcBef>
              <a:spcAft>
                <a:spcPts val="0"/>
              </a:spcAft>
              <a:buClr>
                <a:schemeClr val="dk1"/>
              </a:buClr>
              <a:buSzPts val="1500"/>
              <a:buChar char="●"/>
            </a:pPr>
            <a:r>
              <a:rPr lang="en" sz="1600" dirty="0">
                <a:solidFill>
                  <a:schemeClr val="dk1"/>
                </a:solidFill>
              </a:rPr>
              <a:t>Jumlah kelas menengah menyusut (-9.5jt) dari 2019-2024 (BPS, 2024)</a:t>
            </a:r>
            <a:endParaRPr sz="1600" dirty="0">
              <a:solidFill>
                <a:schemeClr val="dk1"/>
              </a:solidFill>
            </a:endParaRPr>
          </a:p>
          <a:p>
            <a:pPr marL="457200" lvl="0" indent="-330200" algn="l" rtl="0">
              <a:spcBef>
                <a:spcPts val="0"/>
              </a:spcBef>
              <a:spcAft>
                <a:spcPts val="0"/>
              </a:spcAft>
              <a:buClr>
                <a:schemeClr val="dk1"/>
              </a:buClr>
              <a:buSzPts val="1600"/>
              <a:buChar char="●"/>
            </a:pPr>
            <a:r>
              <a:rPr lang="en" sz="1600" dirty="0">
                <a:solidFill>
                  <a:schemeClr val="dk1"/>
                </a:solidFill>
              </a:rPr>
              <a:t>Secara umum cukup baik kecuali urusan finansial (ISS, 2025)</a:t>
            </a:r>
            <a:endParaRPr sz="1600" dirty="0">
              <a:solidFill>
                <a:schemeClr val="dk1"/>
              </a:solidFill>
            </a:endParaRPr>
          </a:p>
        </p:txBody>
      </p:sp>
      <p:pic>
        <p:nvPicPr>
          <p:cNvPr id="114" name="Google Shape;114;p18"/>
          <p:cNvPicPr preferRelativeResize="0"/>
          <p:nvPr/>
        </p:nvPicPr>
        <p:blipFill>
          <a:blip r:embed="rId5">
            <a:alphaModFix/>
          </a:blip>
          <a:stretch>
            <a:fillRect/>
          </a:stretch>
        </p:blipFill>
        <p:spPr>
          <a:xfrm>
            <a:off x="5500475" y="803000"/>
            <a:ext cx="3155542" cy="208159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19"/>
          <p:cNvSpPr/>
          <p:nvPr/>
        </p:nvSpPr>
        <p:spPr>
          <a:xfrm>
            <a:off x="311525" y="252975"/>
            <a:ext cx="8353800" cy="438300"/>
          </a:xfrm>
          <a:prstGeom prst="roundRect">
            <a:avLst>
              <a:gd name="adj" fmla="val 16667"/>
            </a:avLst>
          </a:prstGeom>
          <a:solidFill>
            <a:srgbClr val="465A8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000" b="1">
                <a:solidFill>
                  <a:schemeClr val="accent6"/>
                </a:solidFill>
              </a:rPr>
              <a:t>Kesimpulan</a:t>
            </a:r>
            <a:endParaRPr sz="2000" b="1">
              <a:solidFill>
                <a:schemeClr val="accent6"/>
              </a:solidFill>
            </a:endParaRPr>
          </a:p>
        </p:txBody>
      </p:sp>
      <p:sp>
        <p:nvSpPr>
          <p:cNvPr id="120" name="Google Shape;120;p19"/>
          <p:cNvSpPr txBox="1"/>
          <p:nvPr/>
        </p:nvSpPr>
        <p:spPr>
          <a:xfrm>
            <a:off x="1996475" y="2561665"/>
            <a:ext cx="4880700" cy="1908184"/>
          </a:xfrm>
          <a:prstGeom prst="rect">
            <a:avLst/>
          </a:prstGeom>
          <a:noFill/>
          <a:ln>
            <a:noFill/>
          </a:ln>
        </p:spPr>
        <p:txBody>
          <a:bodyPr spcFirstLastPara="1" wrap="square" lIns="91425" tIns="91425" rIns="91425" bIns="91425" anchor="t" anchorCtr="0">
            <a:spAutoFit/>
          </a:bodyPr>
          <a:lstStyle/>
          <a:p>
            <a:pPr lvl="0" algn="ctr"/>
            <a:r>
              <a:rPr lang="en-US" i="1" dirty="0">
                <a:highlight>
                  <a:srgbClr val="FFFFFF"/>
                </a:highlight>
                <a:latin typeface="Lora" pitchFamily="2" charset="0"/>
              </a:rPr>
              <a:t>“The Indonesian people are not lacking in generosity, meaning of life, and resilience to endure suffering. However, what is clearly lacking in this country are clean institutions, a humane economy, a serving politics, and just policies.”</a:t>
            </a:r>
          </a:p>
          <a:p>
            <a:pPr lvl="0" algn="ctr"/>
            <a:endParaRPr lang="en-US" i="1" dirty="0">
              <a:highlight>
                <a:srgbClr val="FFFFFF"/>
              </a:highlight>
              <a:latin typeface="Lora" pitchFamily="2" charset="0"/>
            </a:endParaRPr>
          </a:p>
          <a:p>
            <a:pPr lvl="0" algn="ctr"/>
            <a:r>
              <a:rPr lang="en-US" i="1" dirty="0">
                <a:highlight>
                  <a:srgbClr val="FFFFFF"/>
                </a:highlight>
                <a:latin typeface="Lora" pitchFamily="2" charset="0"/>
              </a:rPr>
              <a:t>The Paradox of “Happy” People</a:t>
            </a:r>
          </a:p>
          <a:p>
            <a:pPr lvl="0" algn="ctr"/>
            <a:r>
              <a:rPr lang="en-US" i="1" dirty="0">
                <a:highlight>
                  <a:srgbClr val="FFFFFF"/>
                </a:highlight>
                <a:latin typeface="Lora" pitchFamily="2" charset="0"/>
              </a:rPr>
              <a:t>(Kompas, 2026)</a:t>
            </a:r>
            <a:endParaRPr i="1" dirty="0">
              <a:latin typeface="Lora" pitchFamily="2" charset="0"/>
            </a:endParaRPr>
          </a:p>
        </p:txBody>
      </p:sp>
      <p:sp>
        <p:nvSpPr>
          <p:cNvPr id="121" name="Google Shape;121;p19"/>
          <p:cNvSpPr txBox="1">
            <a:spLocks noGrp="1"/>
          </p:cNvSpPr>
          <p:nvPr>
            <p:ph type="body" idx="1"/>
          </p:nvPr>
        </p:nvSpPr>
        <p:spPr>
          <a:xfrm>
            <a:off x="311525" y="1057650"/>
            <a:ext cx="8250600" cy="1349374"/>
          </a:xfrm>
          <a:prstGeom prst="rect">
            <a:avLst/>
          </a:prstGeom>
          <a:ln>
            <a:noFill/>
          </a:ln>
        </p:spPr>
        <p:txBody>
          <a:bodyPr spcFirstLastPara="1" wrap="square" lIns="91425" tIns="91425" rIns="91425" bIns="91425" anchor="t" anchorCtr="0">
            <a:normAutofit/>
          </a:bodyPr>
          <a:lstStyle/>
          <a:p>
            <a:pPr marL="457200" lvl="0" indent="-323850" algn="l" rtl="0">
              <a:spcBef>
                <a:spcPts val="0"/>
              </a:spcBef>
              <a:spcAft>
                <a:spcPts val="0"/>
              </a:spcAft>
              <a:buClr>
                <a:schemeClr val="dk1"/>
              </a:buClr>
              <a:buSzPts val="1500"/>
              <a:buChar char="●"/>
            </a:pPr>
            <a:r>
              <a:rPr lang="en" sz="1600" dirty="0">
                <a:solidFill>
                  <a:schemeClr val="dk1"/>
                </a:solidFill>
              </a:rPr>
              <a:t>Secara subjective, tingkat kebahagiaan Indonesia mengejar rata-rata global</a:t>
            </a:r>
            <a:endParaRPr sz="1600" dirty="0">
              <a:solidFill>
                <a:schemeClr val="dk1"/>
              </a:solidFill>
            </a:endParaRPr>
          </a:p>
          <a:p>
            <a:pPr marL="457200" lvl="0" indent="-330200" algn="l" rtl="0">
              <a:spcBef>
                <a:spcPts val="0"/>
              </a:spcBef>
              <a:spcAft>
                <a:spcPts val="0"/>
              </a:spcAft>
              <a:buClr>
                <a:schemeClr val="dk1"/>
              </a:buClr>
              <a:buSzPts val="1600"/>
              <a:buChar char="●"/>
            </a:pPr>
            <a:r>
              <a:rPr lang="en" sz="1600" dirty="0">
                <a:solidFill>
                  <a:schemeClr val="dk1"/>
                </a:solidFill>
              </a:rPr>
              <a:t>Indonesia stagnan dibanding ASEAN  dan negara GDP setara</a:t>
            </a:r>
            <a:endParaRPr sz="1600" dirty="0">
              <a:solidFill>
                <a:schemeClr val="dk1"/>
              </a:solidFill>
            </a:endParaRPr>
          </a:p>
          <a:p>
            <a:pPr marL="457200" lvl="0" indent="-330200" algn="l" rtl="0">
              <a:spcBef>
                <a:spcPts val="0"/>
              </a:spcBef>
              <a:spcAft>
                <a:spcPts val="0"/>
              </a:spcAft>
              <a:buClr>
                <a:schemeClr val="dk1"/>
              </a:buClr>
              <a:buSzPts val="1600"/>
              <a:buChar char="●"/>
            </a:pPr>
            <a:r>
              <a:rPr lang="en" sz="1600" dirty="0">
                <a:solidFill>
                  <a:schemeClr val="dk1"/>
                </a:solidFill>
              </a:rPr>
              <a:t>Kontradiksi kebahagiaan subjective vs kondisi riil ekonomi.</a:t>
            </a:r>
            <a:endParaRPr sz="1600" dirty="0">
              <a:solidFill>
                <a:schemeClr val="dk1"/>
              </a:solidFil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373</Words>
  <Application>Microsoft Office PowerPoint</Application>
  <PresentationFormat>On-screen Show (16:9)</PresentationFormat>
  <Paragraphs>48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Lora</vt:lpstr>
      <vt:lpstr>Simple Light</vt:lpstr>
      <vt:lpstr>Indonesia’s World Happiness Report  Analysis</vt:lpstr>
      <vt:lpstr>Latar Belakang dan Gambaran Umum</vt:lpstr>
      <vt:lpstr>Eksplorasi Faktor-faktor Berasosiasi</vt:lpstr>
      <vt:lpstr>Perbandingan Skor Indonesia dan Negara ASEAN</vt:lpstr>
      <vt:lpstr>Perbandingan Skor Indonesia dan Negara dengan GDP Setara</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Authors</cp:lastModifiedBy>
  <cp:revision>2</cp:revision>
  <dcterms:modified xsi:type="dcterms:W3CDTF">2026-09-23T07:27:05Z</dcterms:modified>
</cp:coreProperties>
</file>